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60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9" r:id="rId17"/>
    <p:sldId id="358" r:id="rId18"/>
    <p:sldId id="357" r:id="rId19"/>
    <p:sldId id="3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928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sktop\SHAMBAV\MATERIALS\EXCEL\Capstone%20Projec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Sales by Region</a:t>
            </a:r>
            <a:endParaRPr lang="en-US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40C-45D3-8CC3-6132E1D95D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Sheet2!$A$4:$A$8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Sheet2!$B$4:$B$8</c:f>
              <c:numCache>
                <c:formatCode>\₹#,##0,"M"</c:formatCode>
                <c:ptCount val="4"/>
                <c:pt idx="0">
                  <c:v>2588121.8700000015</c:v>
                </c:pt>
                <c:pt idx="1">
                  <c:v>2539669.0000000005</c:v>
                </c:pt>
                <c:pt idx="2">
                  <c:v>2494411.2799999984</c:v>
                </c:pt>
                <c:pt idx="3">
                  <c:v>2480206.9299999983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0C-45D3-8CC3-6132E1D95D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915464096"/>
        <c:axId val="915464576"/>
      </c:barChart>
      <c:catAx>
        <c:axId val="915464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915464576"/>
        <c:crosses val="autoZero"/>
        <c:auto val="1"/>
        <c:lblAlgn val="ctr"/>
        <c:lblOffset val="100"/>
        <c:noMultiLvlLbl val="0"/>
      </c:catAx>
      <c:valAx>
        <c:axId val="915464576"/>
        <c:scaling>
          <c:orientation val="minMax"/>
        </c:scaling>
        <c:delete val="1"/>
        <c:axPos val="b"/>
        <c:numFmt formatCode="\₹#,##0,&quot;M&quot;" sourceLinked="1"/>
        <c:majorTickMark val="none"/>
        <c:minorTickMark val="none"/>
        <c:tickLblPos val="nextTo"/>
        <c:crossAx val="91546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Project.xlsx]Sheet2!PivotTable3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Sales Share by Product Category</a:t>
            </a:r>
            <a:endParaRPr lang="en-US" sz="14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Sheet2!$B$34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EF9-433C-B31D-20D24CFAFFD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EF9-433C-B31D-20D24CFAFFD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EF9-433C-B31D-20D24CFAFFD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EF9-433C-B31D-20D24CFAFFD1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EF9-433C-B31D-20D24CFAFF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Sheet2!$A$35:$A$40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Sheet2!$B$35:$B$40</c:f>
              <c:numCache>
                <c:formatCode>\₹#,##0,"M"</c:formatCode>
                <c:ptCount val="5"/>
                <c:pt idx="0">
                  <c:v>2156007.5799999968</c:v>
                </c:pt>
                <c:pt idx="1">
                  <c:v>2043275.3099999996</c:v>
                </c:pt>
                <c:pt idx="2">
                  <c:v>2049496.1600000008</c:v>
                </c:pt>
                <c:pt idx="3">
                  <c:v>1864225.0599999996</c:v>
                </c:pt>
                <c:pt idx="4">
                  <c:v>1989404.97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EF9-433C-B31D-20D24CFAFF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mbria" panose="02040503050406030204" pitchFamily="18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Project.xlsx]Sheet2!PivotTable7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Monthly Sales and Profit Trend</a:t>
            </a:r>
            <a:endParaRPr lang="en-US" sz="140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54086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92487A"/>
            </a:solidFill>
            <a:ln w="9525">
              <a:solidFill>
                <a:srgbClr val="54086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E49BA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E49BA6"/>
            </a:solidFill>
            <a:ln w="9525">
              <a:solidFill>
                <a:srgbClr val="E49BA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54086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92487A"/>
            </a:solidFill>
            <a:ln w="9525">
              <a:solidFill>
                <a:srgbClr val="54086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E49BA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E49BA6"/>
            </a:solidFill>
            <a:ln w="9525">
              <a:solidFill>
                <a:srgbClr val="E49BA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54086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92487A"/>
            </a:solidFill>
            <a:ln w="9525">
              <a:solidFill>
                <a:srgbClr val="54086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rgbClr val="E49BA6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rgbClr val="E49BA6"/>
            </a:solidFill>
            <a:ln w="9525">
              <a:solidFill>
                <a:srgbClr val="E49BA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Sheet2!$B$74</c:f>
              <c:strCache>
                <c:ptCount val="1"/>
                <c:pt idx="0">
                  <c:v>Sum of Sales_Amount</c:v>
                </c:pt>
              </c:strCache>
            </c:strRef>
          </c:tx>
          <c:spPr>
            <a:ln w="34925" cap="rnd">
              <a:solidFill>
                <a:srgbClr val="54086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92487A"/>
              </a:solidFill>
              <a:ln w="9525">
                <a:solidFill>
                  <a:srgbClr val="54086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Sheet2!$A$75:$A$87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Sheet2!$B$75:$B$87</c:f>
              <c:numCache>
                <c:formatCode>\₹#,##0,"M"</c:formatCode>
                <c:ptCount val="12"/>
                <c:pt idx="0">
                  <c:v>837947.67999999959</c:v>
                </c:pt>
                <c:pt idx="1">
                  <c:v>760084.57000000018</c:v>
                </c:pt>
                <c:pt idx="2">
                  <c:v>858599.08</c:v>
                </c:pt>
                <c:pt idx="3">
                  <c:v>747413.8400000002</c:v>
                </c:pt>
                <c:pt idx="4">
                  <c:v>859102.88999999966</c:v>
                </c:pt>
                <c:pt idx="5">
                  <c:v>880850.03999999992</c:v>
                </c:pt>
                <c:pt idx="6">
                  <c:v>838553.9600000002</c:v>
                </c:pt>
                <c:pt idx="7">
                  <c:v>934208.51000000036</c:v>
                </c:pt>
                <c:pt idx="8">
                  <c:v>827051.4099999998</c:v>
                </c:pt>
                <c:pt idx="9">
                  <c:v>823180.00999999954</c:v>
                </c:pt>
                <c:pt idx="10">
                  <c:v>861954.59000000055</c:v>
                </c:pt>
                <c:pt idx="11">
                  <c:v>873462.49999999919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3E-4C85-808A-DB4F7856F722}"/>
            </c:ext>
          </c:extLst>
        </c:ser>
        <c:ser>
          <c:idx val="1"/>
          <c:order val="1"/>
          <c:tx>
            <c:strRef>
              <c:f>Sheet2!$C$74</c:f>
              <c:strCache>
                <c:ptCount val="1"/>
                <c:pt idx="0">
                  <c:v>Sum of Profit</c:v>
                </c:pt>
              </c:strCache>
            </c:strRef>
          </c:tx>
          <c:spPr>
            <a:ln w="34925" cap="rnd">
              <a:solidFill>
                <a:srgbClr val="E49BA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E49BA6"/>
              </a:solidFill>
              <a:ln w="9525">
                <a:solidFill>
                  <a:srgbClr val="E49BA6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Sheet2!$A$75:$A$87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Sheet2!$C$75:$C$87</c:f>
              <c:numCache>
                <c:formatCode>\₹#,##0,"M"</c:formatCode>
                <c:ptCount val="12"/>
                <c:pt idx="0">
                  <c:v>330271.55999999982</c:v>
                </c:pt>
                <c:pt idx="1">
                  <c:v>300706.57999999978</c:v>
                </c:pt>
                <c:pt idx="2">
                  <c:v>364828.58999999997</c:v>
                </c:pt>
                <c:pt idx="3">
                  <c:v>316311.43000000017</c:v>
                </c:pt>
                <c:pt idx="4">
                  <c:v>352775.01999999984</c:v>
                </c:pt>
                <c:pt idx="5">
                  <c:v>346888.42</c:v>
                </c:pt>
                <c:pt idx="6">
                  <c:v>338329.00999999978</c:v>
                </c:pt>
                <c:pt idx="7">
                  <c:v>330573.02</c:v>
                </c:pt>
                <c:pt idx="8">
                  <c:v>309985.76</c:v>
                </c:pt>
                <c:pt idx="9">
                  <c:v>346684.09</c:v>
                </c:pt>
                <c:pt idx="10">
                  <c:v>345568.70000000007</c:v>
                </c:pt>
                <c:pt idx="11">
                  <c:v>346544.61000000016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3E-4C85-808A-DB4F7856F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2968128"/>
        <c:axId val="1782968608"/>
      </c:lineChart>
      <c:catAx>
        <c:axId val="178296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968608"/>
        <c:crosses val="autoZero"/>
        <c:auto val="1"/>
        <c:lblAlgn val="ctr"/>
        <c:lblOffset val="100"/>
        <c:noMultiLvlLbl val="0"/>
      </c:catAx>
      <c:valAx>
        <c:axId val="1782968608"/>
        <c:scaling>
          <c:orientation val="minMax"/>
        </c:scaling>
        <c:delete val="0"/>
        <c:axPos val="l"/>
        <c:numFmt formatCode="\₹#,##0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96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Project.xlsx]Sheet2!PivotTable2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Regional and Category 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803415325849658"/>
          <c:y val="0.35311099594549278"/>
          <c:w val="0.78954754827093054"/>
          <c:h val="0.40500678291619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Sheet2!$B$19:$B$20</c:f>
              <c:strCache>
                <c:ptCount val="1"/>
                <c:pt idx="0">
                  <c:v>East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Sheet2!$B$21:$B$26</c:f>
              <c:numCache>
                <c:formatCode>\₹#,##0,"M"</c:formatCode>
                <c:ptCount val="5"/>
                <c:pt idx="0">
                  <c:v>558307.99000000011</c:v>
                </c:pt>
                <c:pt idx="1">
                  <c:v>449163.23</c:v>
                </c:pt>
                <c:pt idx="2">
                  <c:v>558116.89999999979</c:v>
                </c:pt>
                <c:pt idx="3">
                  <c:v>449735.78000000014</c:v>
                </c:pt>
                <c:pt idx="4">
                  <c:v>572797.97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4-473D-9718-D194E7245B3C}"/>
            </c:ext>
          </c:extLst>
        </c:ser>
        <c:ser>
          <c:idx val="1"/>
          <c:order val="1"/>
          <c:tx>
            <c:strRef>
              <c:f>Sheet2!$C$19:$C$20</c:f>
              <c:strCache>
                <c:ptCount val="1"/>
                <c:pt idx="0">
                  <c:v>North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Sheet2!$C$21:$C$26</c:f>
              <c:numCache>
                <c:formatCode>\₹#,##0,"M"</c:formatCode>
                <c:ptCount val="5"/>
                <c:pt idx="0">
                  <c:v>575975.87999999989</c:v>
                </c:pt>
                <c:pt idx="1">
                  <c:v>527159.54999999993</c:v>
                </c:pt>
                <c:pt idx="2">
                  <c:v>494993.62999999977</c:v>
                </c:pt>
                <c:pt idx="3">
                  <c:v>471913.51000000013</c:v>
                </c:pt>
                <c:pt idx="4">
                  <c:v>469626.43000000005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24-473D-9718-D194E7245B3C}"/>
            </c:ext>
          </c:extLst>
        </c:ser>
        <c:ser>
          <c:idx val="2"/>
          <c:order val="2"/>
          <c:tx>
            <c:strRef>
              <c:f>Sheet2!$D$19:$D$20</c:f>
              <c:strCache>
                <c:ptCount val="1"/>
                <c:pt idx="0">
                  <c:v>South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Sheet2!$D$21:$D$26</c:f>
              <c:numCache>
                <c:formatCode>\₹#,##0,"M"</c:formatCode>
                <c:ptCount val="5"/>
                <c:pt idx="0">
                  <c:v>529784.9</c:v>
                </c:pt>
                <c:pt idx="1">
                  <c:v>492194.56000000017</c:v>
                </c:pt>
                <c:pt idx="2">
                  <c:v>487656.54000000015</c:v>
                </c:pt>
                <c:pt idx="3">
                  <c:v>496331.25000000017</c:v>
                </c:pt>
                <c:pt idx="4">
                  <c:v>488444.0299999998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24-473D-9718-D194E7245B3C}"/>
            </c:ext>
          </c:extLst>
        </c:ser>
        <c:ser>
          <c:idx val="3"/>
          <c:order val="3"/>
          <c:tx>
            <c:strRef>
              <c:f>Sheet2!$E$19:$E$20</c:f>
              <c:strCache>
                <c:ptCount val="1"/>
                <c:pt idx="0">
                  <c:v>West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Sheet2!$E$21:$E$26</c:f>
              <c:numCache>
                <c:formatCode>\₹#,##0,"M"</c:formatCode>
                <c:ptCount val="5"/>
                <c:pt idx="0">
                  <c:v>491938.81000000011</c:v>
                </c:pt>
                <c:pt idx="1">
                  <c:v>574757.97</c:v>
                </c:pt>
                <c:pt idx="2">
                  <c:v>508729.09000000008</c:v>
                </c:pt>
                <c:pt idx="3">
                  <c:v>446244.51999999996</c:v>
                </c:pt>
                <c:pt idx="4">
                  <c:v>458536.54000000033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24-473D-9718-D194E7245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1112416"/>
        <c:axId val="1297332304"/>
      </c:barChart>
      <c:catAx>
        <c:axId val="68111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7332304"/>
        <c:crosses val="autoZero"/>
        <c:auto val="1"/>
        <c:lblAlgn val="ctr"/>
        <c:lblOffset val="100"/>
        <c:noMultiLvlLbl val="0"/>
      </c:catAx>
      <c:valAx>
        <c:axId val="1297332304"/>
        <c:scaling>
          <c:orientation val="minMax"/>
        </c:scaling>
        <c:delete val="0"/>
        <c:axPos val="l"/>
        <c:numFmt formatCode="\₹#,##0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11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US"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Monthly Wise Quantity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baseline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2583857952105694E-2"/>
          <c:y val="0.34772149557221627"/>
          <c:w val="0.93483228409578856"/>
          <c:h val="0.51395553023546237"/>
        </c:manualLayout>
      </c:layout>
      <c:areaChart>
        <c:grouping val="stacked"/>
        <c:varyColors val="0"/>
        <c:ser>
          <c:idx val="0"/>
          <c:order val="0"/>
          <c:tx>
            <c:strRef>
              <c:f>Sheet2!$B$151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0-0FA4-4983-A5D4-6297FC13AD87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1-0FA4-4983-A5D4-6297FC13AD87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2-0FA4-4983-A5D4-6297FC13AD87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3-0FA4-4983-A5D4-6297FC13AD87}"/>
              </c:ext>
            </c:extLst>
          </c:dPt>
          <c:dLbls>
            <c:dLbl>
              <c:idx val="5"/>
              <c:layout>
                <c:manualLayout>
                  <c:x val="-6.436757331183689E-17"/>
                  <c:y val="-8.60446160356728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A4-4983-A5D4-6297FC13AD87}"/>
                </c:ext>
              </c:extLst>
            </c:dLbl>
            <c:dLbl>
              <c:idx val="7"/>
              <c:layout>
                <c:manualLayout>
                  <c:x val="0"/>
                  <c:y val="-8.60446160356728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A4-4983-A5D4-6297FC13AD87}"/>
                </c:ext>
              </c:extLst>
            </c:dLbl>
            <c:dLbl>
              <c:idx val="9"/>
              <c:layout>
                <c:manualLayout>
                  <c:x val="0"/>
                  <c:y val="-7.28069827994154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A4-4983-A5D4-6297FC13AD87}"/>
                </c:ext>
              </c:extLst>
            </c:dLbl>
            <c:dLbl>
              <c:idx val="11"/>
              <c:layout>
                <c:manualLayout>
                  <c:x val="-3.5109991031747174E-3"/>
                  <c:y val="-5.95693495631582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A4-4983-A5D4-6297FC13AD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Sheet2!$A$152:$A$164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Sheet2!$B$152:$B$164</c:f>
              <c:numCache>
                <c:formatCode>General</c:formatCode>
                <c:ptCount val="12"/>
                <c:pt idx="0">
                  <c:v>8479</c:v>
                </c:pt>
                <c:pt idx="1">
                  <c:v>7656</c:v>
                </c:pt>
                <c:pt idx="2">
                  <c:v>9050</c:v>
                </c:pt>
                <c:pt idx="3">
                  <c:v>7606</c:v>
                </c:pt>
                <c:pt idx="4">
                  <c:v>8666</c:v>
                </c:pt>
                <c:pt idx="5">
                  <c:v>9098</c:v>
                </c:pt>
                <c:pt idx="6">
                  <c:v>8620</c:v>
                </c:pt>
                <c:pt idx="7">
                  <c:v>9244</c:v>
                </c:pt>
                <c:pt idx="8">
                  <c:v>8291</c:v>
                </c:pt>
                <c:pt idx="9">
                  <c:v>8435</c:v>
                </c:pt>
                <c:pt idx="10">
                  <c:v>8816</c:v>
                </c:pt>
                <c:pt idx="11">
                  <c:v>8792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A4-4983-A5D4-6297FC13AD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883364032"/>
        <c:axId val="883364512"/>
      </c:areaChart>
      <c:catAx>
        <c:axId val="88336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883364512"/>
        <c:crosses val="autoZero"/>
        <c:auto val="1"/>
        <c:lblAlgn val="ctr"/>
        <c:lblOffset val="100"/>
        <c:noMultiLvlLbl val="0"/>
      </c:catAx>
      <c:valAx>
        <c:axId val="883364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3364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Impact of Discount on Sales</a:t>
            </a:r>
            <a:endParaRPr lang="en-IN" sz="14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6.9524177984214716E-2"/>
          <c:y val="0.15900254970129712"/>
          <c:w val="0.89675452748377482"/>
          <c:h val="0.65629882114134197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8.3603197999486664E-2"/>
                  <c:y val="0.20158116163067424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000" b="1" i="0" u="none" strike="noStrike" kern="1200" baseline="0">
                        <a:solidFill>
                          <a:sysClr val="windowText" lastClr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defRPr>
                    </a:pPr>
                    <a:r>
                      <a:rPr lang="en-US" sz="1000" b="1">
                        <a:solidFill>
                          <a:sysClr val="windowText" lastClr="000000"/>
                        </a:solidFill>
                      </a:rPr>
                      <a:t>y = -7366.9x + 199928</a:t>
                    </a:r>
                    <a:br>
                      <a:rPr lang="en-US" sz="1000" b="1">
                        <a:solidFill>
                          <a:sysClr val="windowText" lastClr="000000"/>
                        </a:solidFill>
                      </a:rPr>
                    </a:br>
                    <a:r>
                      <a:rPr lang="en-US" sz="1000" b="1">
                        <a:solidFill>
                          <a:sysClr val="windowText" lastClr="000000"/>
                        </a:solidFill>
                      </a:rPr>
                      <a:t>R² = 0.0017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ysClr val="windowText" lastClr="00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Sheet2!$C$96:$C$146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xVal>
          <c:yVal>
            <c:numRef>
              <c:f>Sheet2!$D$96:$D$146</c:f>
              <c:numCache>
                <c:formatCode>\₹#,##0,"M"</c:formatCode>
                <c:ptCount val="51"/>
                <c:pt idx="0">
                  <c:v>160737.18000000002</c:v>
                </c:pt>
                <c:pt idx="1">
                  <c:v>230187.79000000012</c:v>
                </c:pt>
                <c:pt idx="2">
                  <c:v>167428.19999999995</c:v>
                </c:pt>
                <c:pt idx="3">
                  <c:v>189091.01000000007</c:v>
                </c:pt>
                <c:pt idx="4">
                  <c:v>221616.30000000002</c:v>
                </c:pt>
                <c:pt idx="5">
                  <c:v>178692.89999999994</c:v>
                </c:pt>
                <c:pt idx="6">
                  <c:v>174652.09999999995</c:v>
                </c:pt>
                <c:pt idx="7">
                  <c:v>183158.36</c:v>
                </c:pt>
                <c:pt idx="8">
                  <c:v>176294.98999999996</c:v>
                </c:pt>
                <c:pt idx="9">
                  <c:v>224220.79</c:v>
                </c:pt>
                <c:pt idx="10">
                  <c:v>160790.84000000003</c:v>
                </c:pt>
                <c:pt idx="11">
                  <c:v>191250.68</c:v>
                </c:pt>
                <c:pt idx="12">
                  <c:v>251505.71999999994</c:v>
                </c:pt>
                <c:pt idx="13">
                  <c:v>223073.69000000009</c:v>
                </c:pt>
                <c:pt idx="14">
                  <c:v>253198.57000000009</c:v>
                </c:pt>
                <c:pt idx="15">
                  <c:v>209777.85</c:v>
                </c:pt>
                <c:pt idx="16">
                  <c:v>199316.39999999997</c:v>
                </c:pt>
                <c:pt idx="17">
                  <c:v>237258.27000000008</c:v>
                </c:pt>
                <c:pt idx="18">
                  <c:v>207880.13000000006</c:v>
                </c:pt>
                <c:pt idx="19">
                  <c:v>184608.25999999992</c:v>
                </c:pt>
                <c:pt idx="20">
                  <c:v>214580.93000000008</c:v>
                </c:pt>
                <c:pt idx="21">
                  <c:v>225646.10000000006</c:v>
                </c:pt>
                <c:pt idx="22">
                  <c:v>177666.14</c:v>
                </c:pt>
                <c:pt idx="23">
                  <c:v>213692.68000000002</c:v>
                </c:pt>
                <c:pt idx="24">
                  <c:v>177974.72999999998</c:v>
                </c:pt>
                <c:pt idx="25">
                  <c:v>163739.39000000007</c:v>
                </c:pt>
                <c:pt idx="26">
                  <c:v>226217.87000000002</c:v>
                </c:pt>
                <c:pt idx="27">
                  <c:v>170138.63000000012</c:v>
                </c:pt>
                <c:pt idx="28">
                  <c:v>185772.96000000002</c:v>
                </c:pt>
                <c:pt idx="29">
                  <c:v>235781.37000000011</c:v>
                </c:pt>
                <c:pt idx="30">
                  <c:v>196755.42999999996</c:v>
                </c:pt>
                <c:pt idx="31">
                  <c:v>155198.18999999997</c:v>
                </c:pt>
                <c:pt idx="32">
                  <c:v>189673.90999999995</c:v>
                </c:pt>
                <c:pt idx="33">
                  <c:v>215014.13</c:v>
                </c:pt>
                <c:pt idx="34">
                  <c:v>190155.48</c:v>
                </c:pt>
                <c:pt idx="35">
                  <c:v>206559.51999999996</c:v>
                </c:pt>
                <c:pt idx="36">
                  <c:v>205156.87999999992</c:v>
                </c:pt>
                <c:pt idx="37">
                  <c:v>229734.33000000005</c:v>
                </c:pt>
                <c:pt idx="38">
                  <c:v>143474.34999999998</c:v>
                </c:pt>
                <c:pt idx="39">
                  <c:v>250693.26999999984</c:v>
                </c:pt>
                <c:pt idx="40">
                  <c:v>175749.69</c:v>
                </c:pt>
                <c:pt idx="41">
                  <c:v>200565.14999999997</c:v>
                </c:pt>
                <c:pt idx="42">
                  <c:v>204580.57000000004</c:v>
                </c:pt>
                <c:pt idx="43">
                  <c:v>177048.80000000008</c:v>
                </c:pt>
                <c:pt idx="44">
                  <c:v>174166.69</c:v>
                </c:pt>
                <c:pt idx="45">
                  <c:v>191115.32</c:v>
                </c:pt>
                <c:pt idx="46">
                  <c:v>190951.53000000003</c:v>
                </c:pt>
                <c:pt idx="47">
                  <c:v>179998.12000000002</c:v>
                </c:pt>
                <c:pt idx="48">
                  <c:v>214021.67999999991</c:v>
                </c:pt>
                <c:pt idx="49">
                  <c:v>170518.19</c:v>
                </c:pt>
                <c:pt idx="50">
                  <c:v>225327.02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E8B-4F5F-9C43-35EDC8C63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0686944"/>
        <c:axId val="1260677824"/>
      </c:scatterChart>
      <c:valAx>
        <c:axId val="1260686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</a:rPr>
                  <a:t>Discount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1260677824"/>
        <c:crosses val="autoZero"/>
        <c:crossBetween val="midCat"/>
      </c:valAx>
      <c:valAx>
        <c:axId val="1260677824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\₹#,##0,&quot;M&quot;" sourceLinked="1"/>
        <c:majorTickMark val="none"/>
        <c:minorTickMark val="none"/>
        <c:tickLblPos val="nextTo"/>
        <c:crossAx val="1260686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mbria" panose="02040503050406030204" pitchFamily="18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Sales by Region</a:t>
            </a:r>
            <a:endParaRPr lang="en-US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A2-4B97-9801-E24EC8B1E4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Sheet2!$A$4:$A$8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Sheet2!$B$4:$B$8</c:f>
              <c:numCache>
                <c:formatCode>\₹#,##0,"M"</c:formatCode>
                <c:ptCount val="4"/>
                <c:pt idx="0">
                  <c:v>2588121.8700000015</c:v>
                </c:pt>
                <c:pt idx="1">
                  <c:v>2539669.0000000005</c:v>
                </c:pt>
                <c:pt idx="2">
                  <c:v>2494411.2799999984</c:v>
                </c:pt>
                <c:pt idx="3">
                  <c:v>2480206.9299999983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A2-4B97-9801-E24EC8B1E4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915464096"/>
        <c:axId val="915464576"/>
      </c:barChart>
      <c:catAx>
        <c:axId val="915464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915464576"/>
        <c:crosses val="autoZero"/>
        <c:auto val="1"/>
        <c:lblAlgn val="ctr"/>
        <c:lblOffset val="100"/>
        <c:noMultiLvlLbl val="0"/>
      </c:catAx>
      <c:valAx>
        <c:axId val="915464576"/>
        <c:scaling>
          <c:orientation val="minMax"/>
        </c:scaling>
        <c:delete val="1"/>
        <c:axPos val="b"/>
        <c:numFmt formatCode="\₹#,##0,&quot;M&quot;" sourceLinked="1"/>
        <c:majorTickMark val="none"/>
        <c:minorTickMark val="none"/>
        <c:tickLblPos val="nextTo"/>
        <c:crossAx val="91546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>
                <a:solidFill>
                  <a:sysClr val="windowText" lastClr="000000"/>
                </a:solidFill>
              </a:rPr>
              <a:t>Regional and Category 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803415325849658"/>
          <c:y val="0.35311099594549278"/>
          <c:w val="0.78954754827093054"/>
          <c:h val="0.40500678291619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Sheet2!$B$19:$B$20</c:f>
              <c:strCache>
                <c:ptCount val="1"/>
                <c:pt idx="0">
                  <c:v>East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Sheet2!$B$21:$B$26</c:f>
              <c:numCache>
                <c:formatCode>\₹#,##0,"M"</c:formatCode>
                <c:ptCount val="5"/>
                <c:pt idx="0">
                  <c:v>558307.99000000011</c:v>
                </c:pt>
                <c:pt idx="1">
                  <c:v>449163.23</c:v>
                </c:pt>
                <c:pt idx="2">
                  <c:v>558116.89999999979</c:v>
                </c:pt>
                <c:pt idx="3">
                  <c:v>449735.78000000014</c:v>
                </c:pt>
                <c:pt idx="4">
                  <c:v>572797.97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7F-4992-A513-58028C0992FA}"/>
            </c:ext>
          </c:extLst>
        </c:ser>
        <c:ser>
          <c:idx val="1"/>
          <c:order val="1"/>
          <c:tx>
            <c:strRef>
              <c:f>Sheet2!$C$19:$C$20</c:f>
              <c:strCache>
                <c:ptCount val="1"/>
                <c:pt idx="0">
                  <c:v>North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Sheet2!$C$21:$C$26</c:f>
              <c:numCache>
                <c:formatCode>\₹#,##0,"M"</c:formatCode>
                <c:ptCount val="5"/>
                <c:pt idx="0">
                  <c:v>575975.87999999989</c:v>
                </c:pt>
                <c:pt idx="1">
                  <c:v>527159.54999999993</c:v>
                </c:pt>
                <c:pt idx="2">
                  <c:v>494993.62999999977</c:v>
                </c:pt>
                <c:pt idx="3">
                  <c:v>471913.51000000013</c:v>
                </c:pt>
                <c:pt idx="4">
                  <c:v>469626.43000000005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7F-4992-A513-58028C0992FA}"/>
            </c:ext>
          </c:extLst>
        </c:ser>
        <c:ser>
          <c:idx val="2"/>
          <c:order val="2"/>
          <c:tx>
            <c:strRef>
              <c:f>Sheet2!$D$19:$D$20</c:f>
              <c:strCache>
                <c:ptCount val="1"/>
                <c:pt idx="0">
                  <c:v>South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Sheet2!$D$21:$D$26</c:f>
              <c:numCache>
                <c:formatCode>\₹#,##0,"M"</c:formatCode>
                <c:ptCount val="5"/>
                <c:pt idx="0">
                  <c:v>529784.9</c:v>
                </c:pt>
                <c:pt idx="1">
                  <c:v>492194.56000000017</c:v>
                </c:pt>
                <c:pt idx="2">
                  <c:v>487656.54000000015</c:v>
                </c:pt>
                <c:pt idx="3">
                  <c:v>496331.25000000017</c:v>
                </c:pt>
                <c:pt idx="4">
                  <c:v>488444.0299999998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7F-4992-A513-58028C0992FA}"/>
            </c:ext>
          </c:extLst>
        </c:ser>
        <c:ser>
          <c:idx val="3"/>
          <c:order val="3"/>
          <c:tx>
            <c:strRef>
              <c:f>Sheet2!$E$19:$E$20</c:f>
              <c:strCache>
                <c:ptCount val="1"/>
                <c:pt idx="0">
                  <c:v>West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Sheet2!$A$21:$A$26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Sheet2!$E$21:$E$26</c:f>
              <c:numCache>
                <c:formatCode>\₹#,##0,"M"</c:formatCode>
                <c:ptCount val="5"/>
                <c:pt idx="0">
                  <c:v>491938.81000000011</c:v>
                </c:pt>
                <c:pt idx="1">
                  <c:v>574757.97</c:v>
                </c:pt>
                <c:pt idx="2">
                  <c:v>508729.09000000008</c:v>
                </c:pt>
                <c:pt idx="3">
                  <c:v>446244.51999999996</c:v>
                </c:pt>
                <c:pt idx="4">
                  <c:v>458536.54000000033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7F-4992-A513-58028C0992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81112416"/>
        <c:axId val="1297332304"/>
      </c:barChart>
      <c:catAx>
        <c:axId val="68111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1297332304"/>
        <c:crosses val="autoZero"/>
        <c:auto val="1"/>
        <c:lblAlgn val="ctr"/>
        <c:lblOffset val="100"/>
        <c:noMultiLvlLbl val="0"/>
      </c:catAx>
      <c:valAx>
        <c:axId val="1297332304"/>
        <c:scaling>
          <c:orientation val="minMax"/>
        </c:scaling>
        <c:delete val="0"/>
        <c:axPos val="l"/>
        <c:numFmt formatCode="\₹#,##0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68111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mbria" panose="02040503050406030204" pitchFamily="18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Project.xlsx]Sheet2!PivotTable3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Sales Share by Product Category</a:t>
            </a:r>
            <a:endParaRPr lang="en-US" sz="14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Sheet2!$B$34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ABB-42D5-8B8C-50DEF02C105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ABB-42D5-8B8C-50DEF02C105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ABB-42D5-8B8C-50DEF02C105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ABB-42D5-8B8C-50DEF02C105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ABB-42D5-8B8C-50DEF02C105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Sheet2!$A$35:$A$40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Sheet2!$B$35:$B$40</c:f>
              <c:numCache>
                <c:formatCode>\₹#,##0,"M"</c:formatCode>
                <c:ptCount val="5"/>
                <c:pt idx="0">
                  <c:v>2156007.5799999968</c:v>
                </c:pt>
                <c:pt idx="1">
                  <c:v>2043275.3099999996</c:v>
                </c:pt>
                <c:pt idx="2">
                  <c:v>2049496.1600000008</c:v>
                </c:pt>
                <c:pt idx="3">
                  <c:v>1864225.0599999996</c:v>
                </c:pt>
                <c:pt idx="4">
                  <c:v>1989404.97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ABB-42D5-8B8C-50DEF02C10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mbria" panose="02040503050406030204" pitchFamily="18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Monthly Sales and Profit Trend</a:t>
            </a:r>
            <a:endParaRPr lang="en-US" sz="140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Sheet2!$B$74</c:f>
              <c:strCache>
                <c:ptCount val="1"/>
                <c:pt idx="0">
                  <c:v>Sum of Sales_Amount</c:v>
                </c:pt>
              </c:strCache>
            </c:strRef>
          </c:tx>
          <c:spPr>
            <a:ln w="34925" cap="rnd">
              <a:solidFill>
                <a:schemeClr val="accent5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>
                    <a:shade val="76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Sheet2!$A$75:$A$87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Sheet2!$B$75:$B$87</c:f>
              <c:numCache>
                <c:formatCode>\₹#,##0,"M"</c:formatCode>
                <c:ptCount val="12"/>
                <c:pt idx="0">
                  <c:v>837947.67999999959</c:v>
                </c:pt>
                <c:pt idx="1">
                  <c:v>760084.57000000018</c:v>
                </c:pt>
                <c:pt idx="2">
                  <c:v>858599.08</c:v>
                </c:pt>
                <c:pt idx="3">
                  <c:v>747413.8400000002</c:v>
                </c:pt>
                <c:pt idx="4">
                  <c:v>859102.88999999966</c:v>
                </c:pt>
                <c:pt idx="5">
                  <c:v>880850.03999999992</c:v>
                </c:pt>
                <c:pt idx="6">
                  <c:v>838553.9600000002</c:v>
                </c:pt>
                <c:pt idx="7">
                  <c:v>934208.51000000036</c:v>
                </c:pt>
                <c:pt idx="8">
                  <c:v>827051.4099999998</c:v>
                </c:pt>
                <c:pt idx="9">
                  <c:v>823180.00999999954</c:v>
                </c:pt>
                <c:pt idx="10">
                  <c:v>861954.59000000055</c:v>
                </c:pt>
                <c:pt idx="11">
                  <c:v>873462.49999999919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29-47AD-9643-17536000C60E}"/>
            </c:ext>
          </c:extLst>
        </c:ser>
        <c:ser>
          <c:idx val="1"/>
          <c:order val="1"/>
          <c:tx>
            <c:strRef>
              <c:f>Sheet2!$C$74</c:f>
              <c:strCache>
                <c:ptCount val="1"/>
                <c:pt idx="0">
                  <c:v>Sum of Profit</c:v>
                </c:pt>
              </c:strCache>
            </c:strRef>
          </c:tx>
          <c:spPr>
            <a:ln w="34925" cap="rnd">
              <a:solidFill>
                <a:schemeClr val="accent5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>
                    <a:tint val="77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Sheet2!$A$75:$A$87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Sheet2!$C$75:$C$87</c:f>
              <c:numCache>
                <c:formatCode>\₹#,##0,"M"</c:formatCode>
                <c:ptCount val="12"/>
                <c:pt idx="0">
                  <c:v>330271.55999999982</c:v>
                </c:pt>
                <c:pt idx="1">
                  <c:v>300706.57999999978</c:v>
                </c:pt>
                <c:pt idx="2">
                  <c:v>364828.58999999997</c:v>
                </c:pt>
                <c:pt idx="3">
                  <c:v>316311.43000000017</c:v>
                </c:pt>
                <c:pt idx="4">
                  <c:v>352775.01999999984</c:v>
                </c:pt>
                <c:pt idx="5">
                  <c:v>346888.42</c:v>
                </c:pt>
                <c:pt idx="6">
                  <c:v>338329.00999999978</c:v>
                </c:pt>
                <c:pt idx="7">
                  <c:v>330573.02</c:v>
                </c:pt>
                <c:pt idx="8">
                  <c:v>309985.76</c:v>
                </c:pt>
                <c:pt idx="9">
                  <c:v>346684.09</c:v>
                </c:pt>
                <c:pt idx="10">
                  <c:v>345568.70000000007</c:v>
                </c:pt>
                <c:pt idx="11">
                  <c:v>346544.61000000016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29-47AD-9643-17536000C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2968128"/>
        <c:axId val="1782968608"/>
      </c:lineChart>
      <c:catAx>
        <c:axId val="178296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968608"/>
        <c:crosses val="autoZero"/>
        <c:auto val="1"/>
        <c:lblAlgn val="ctr"/>
        <c:lblOffset val="100"/>
        <c:noMultiLvlLbl val="0"/>
      </c:catAx>
      <c:valAx>
        <c:axId val="1782968608"/>
        <c:scaling>
          <c:orientation val="minMax"/>
        </c:scaling>
        <c:delete val="0"/>
        <c:axPos val="l"/>
        <c:numFmt formatCode="\₹#,##0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96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IN" sz="1400" b="1" i="0" u="none" strike="noStrike" baseline="0"/>
              <a:t>Impact of Discount on Sales</a:t>
            </a:r>
            <a:endParaRPr lang="en-IN" sz="14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baseline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6.9524177984214716E-2"/>
          <c:y val="0.15900254970129712"/>
          <c:w val="0.89675452748377482"/>
          <c:h val="0.65629882114134197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5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8.3603197999486664E-2"/>
                  <c:y val="0.20158116163067424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000" b="1" i="0" u="none" strike="noStrike" kern="1200" baseline="0">
                        <a:solidFill>
                          <a:sysClr val="windowText" lastClr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defRPr>
                    </a:pPr>
                    <a:r>
                      <a:rPr lang="en-US" sz="1000" b="1">
                        <a:solidFill>
                          <a:sysClr val="windowText" lastClr="000000"/>
                        </a:solidFill>
                      </a:rPr>
                      <a:t>y = -7366.9x + 199928</a:t>
                    </a:r>
                    <a:br>
                      <a:rPr lang="en-US" sz="1000" b="1">
                        <a:solidFill>
                          <a:sysClr val="windowText" lastClr="000000"/>
                        </a:solidFill>
                      </a:rPr>
                    </a:br>
                    <a:r>
                      <a:rPr lang="en-US" sz="1000" b="1">
                        <a:solidFill>
                          <a:sysClr val="windowText" lastClr="000000"/>
                        </a:solidFill>
                      </a:rPr>
                      <a:t>R² = 0.0017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ysClr val="windowText" lastClr="00000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Sheet2!$C$96:$C$146</c:f>
              <c:numCache>
                <c:formatCode>General</c:formatCode>
                <c:ptCount val="5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</c:numCache>
            </c:numRef>
          </c:xVal>
          <c:yVal>
            <c:numRef>
              <c:f>Sheet2!$D$96:$D$146</c:f>
              <c:numCache>
                <c:formatCode>\₹#,##0,"M"</c:formatCode>
                <c:ptCount val="51"/>
                <c:pt idx="0">
                  <c:v>160737.18000000002</c:v>
                </c:pt>
                <c:pt idx="1">
                  <c:v>230187.79000000012</c:v>
                </c:pt>
                <c:pt idx="2">
                  <c:v>167428.19999999995</c:v>
                </c:pt>
                <c:pt idx="3">
                  <c:v>189091.01000000007</c:v>
                </c:pt>
                <c:pt idx="4">
                  <c:v>221616.30000000002</c:v>
                </c:pt>
                <c:pt idx="5">
                  <c:v>178692.89999999994</c:v>
                </c:pt>
                <c:pt idx="6">
                  <c:v>174652.09999999995</c:v>
                </c:pt>
                <c:pt idx="7">
                  <c:v>183158.36</c:v>
                </c:pt>
                <c:pt idx="8">
                  <c:v>176294.98999999996</c:v>
                </c:pt>
                <c:pt idx="9">
                  <c:v>224220.79</c:v>
                </c:pt>
                <c:pt idx="10">
                  <c:v>160790.84000000003</c:v>
                </c:pt>
                <c:pt idx="11">
                  <c:v>191250.68</c:v>
                </c:pt>
                <c:pt idx="12">
                  <c:v>251505.71999999994</c:v>
                </c:pt>
                <c:pt idx="13">
                  <c:v>223073.69000000009</c:v>
                </c:pt>
                <c:pt idx="14">
                  <c:v>253198.57000000009</c:v>
                </c:pt>
                <c:pt idx="15">
                  <c:v>209777.85</c:v>
                </c:pt>
                <c:pt idx="16">
                  <c:v>199316.39999999997</c:v>
                </c:pt>
                <c:pt idx="17">
                  <c:v>237258.27000000008</c:v>
                </c:pt>
                <c:pt idx="18">
                  <c:v>207880.13000000006</c:v>
                </c:pt>
                <c:pt idx="19">
                  <c:v>184608.25999999992</c:v>
                </c:pt>
                <c:pt idx="20">
                  <c:v>214580.93000000008</c:v>
                </c:pt>
                <c:pt idx="21">
                  <c:v>225646.10000000006</c:v>
                </c:pt>
                <c:pt idx="22">
                  <c:v>177666.14</c:v>
                </c:pt>
                <c:pt idx="23">
                  <c:v>213692.68000000002</c:v>
                </c:pt>
                <c:pt idx="24">
                  <c:v>177974.72999999998</c:v>
                </c:pt>
                <c:pt idx="25">
                  <c:v>163739.39000000007</c:v>
                </c:pt>
                <c:pt idx="26">
                  <c:v>226217.87000000002</c:v>
                </c:pt>
                <c:pt idx="27">
                  <c:v>170138.63000000012</c:v>
                </c:pt>
                <c:pt idx="28">
                  <c:v>185772.96000000002</c:v>
                </c:pt>
                <c:pt idx="29">
                  <c:v>235781.37000000011</c:v>
                </c:pt>
                <c:pt idx="30">
                  <c:v>196755.42999999996</c:v>
                </c:pt>
                <c:pt idx="31">
                  <c:v>155198.18999999997</c:v>
                </c:pt>
                <c:pt idx="32">
                  <c:v>189673.90999999995</c:v>
                </c:pt>
                <c:pt idx="33">
                  <c:v>215014.13</c:v>
                </c:pt>
                <c:pt idx="34">
                  <c:v>190155.48</c:v>
                </c:pt>
                <c:pt idx="35">
                  <c:v>206559.51999999996</c:v>
                </c:pt>
                <c:pt idx="36">
                  <c:v>205156.87999999992</c:v>
                </c:pt>
                <c:pt idx="37">
                  <c:v>229734.33000000005</c:v>
                </c:pt>
                <c:pt idx="38">
                  <c:v>143474.34999999998</c:v>
                </c:pt>
                <c:pt idx="39">
                  <c:v>250693.26999999984</c:v>
                </c:pt>
                <c:pt idx="40">
                  <c:v>175749.69</c:v>
                </c:pt>
                <c:pt idx="41">
                  <c:v>200565.14999999997</c:v>
                </c:pt>
                <c:pt idx="42">
                  <c:v>204580.57000000004</c:v>
                </c:pt>
                <c:pt idx="43">
                  <c:v>177048.80000000008</c:v>
                </c:pt>
                <c:pt idx="44">
                  <c:v>174166.69</c:v>
                </c:pt>
                <c:pt idx="45">
                  <c:v>191115.32</c:v>
                </c:pt>
                <c:pt idx="46">
                  <c:v>190951.53000000003</c:v>
                </c:pt>
                <c:pt idx="47">
                  <c:v>179998.12000000002</c:v>
                </c:pt>
                <c:pt idx="48">
                  <c:v>214021.67999999991</c:v>
                </c:pt>
                <c:pt idx="49">
                  <c:v>170518.19</c:v>
                </c:pt>
                <c:pt idx="50">
                  <c:v>225327.02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B9B-4EB0-B51D-BD1D435E6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0686944"/>
        <c:axId val="1260677824"/>
      </c:scatterChart>
      <c:valAx>
        <c:axId val="1260686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</a:rPr>
                  <a:t>Discount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1260677824"/>
        <c:crosses val="autoZero"/>
        <c:crossBetween val="midCat"/>
      </c:valAx>
      <c:valAx>
        <c:axId val="1260677824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\₹#,##0,&quot;M&quot;" sourceLinked="1"/>
        <c:majorTickMark val="none"/>
        <c:minorTickMark val="none"/>
        <c:tickLblPos val="nextTo"/>
        <c:crossAx val="1260686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Cambria" panose="02040503050406030204" pitchFamily="18" charset="0"/>
          <a:ea typeface="Cambria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[Capstone Project.xlsx]Sheet2!PivotTable4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r>
              <a:rPr lang="en-US" sz="1400" b="1" i="0" u="none" strike="noStrike" kern="120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Monthly Wise Quantity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baseline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436757331183689E-17"/>
              <c:y val="-8.60446160356728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60446160356728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28069827994154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5109991031747174E-3"/>
              <c:y val="-5.95693495631582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2583857952105694E-2"/>
          <c:y val="0.34772149557221627"/>
          <c:w val="0.93483228409578856"/>
          <c:h val="0.51395553023546237"/>
        </c:manualLayout>
      </c:layout>
      <c:areaChart>
        <c:grouping val="stacked"/>
        <c:varyColors val="0"/>
        <c:ser>
          <c:idx val="0"/>
          <c:order val="0"/>
          <c:tx>
            <c:strRef>
              <c:f>Sheet2!$B$151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0-74F5-4096-B556-26F93BB45A61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1-74F5-4096-B556-26F93BB45A61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2-74F5-4096-B556-26F93BB45A61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3-74F5-4096-B556-26F93BB45A61}"/>
              </c:ext>
            </c:extLst>
          </c:dPt>
          <c:dLbls>
            <c:dLbl>
              <c:idx val="5"/>
              <c:layout>
                <c:manualLayout>
                  <c:x val="-6.436757331183689E-17"/>
                  <c:y val="-8.60446160356728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F5-4096-B556-26F93BB45A61}"/>
                </c:ext>
              </c:extLst>
            </c:dLbl>
            <c:dLbl>
              <c:idx val="7"/>
              <c:layout>
                <c:manualLayout>
                  <c:x val="0"/>
                  <c:y val="-8.60446160356728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F5-4096-B556-26F93BB45A61}"/>
                </c:ext>
              </c:extLst>
            </c:dLbl>
            <c:dLbl>
              <c:idx val="9"/>
              <c:layout>
                <c:manualLayout>
                  <c:x val="0"/>
                  <c:y val="-7.28069827994154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F5-4096-B556-26F93BB45A61}"/>
                </c:ext>
              </c:extLst>
            </c:dLbl>
            <c:dLbl>
              <c:idx val="11"/>
              <c:layout>
                <c:manualLayout>
                  <c:x val="-3.5109991031747174E-3"/>
                  <c:y val="-5.95693495631582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F5-4096-B556-26F93BB45A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Sheet2!$A$152:$A$164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Sheet2!$B$152:$B$164</c:f>
              <c:numCache>
                <c:formatCode>General</c:formatCode>
                <c:ptCount val="12"/>
                <c:pt idx="0">
                  <c:v>8479</c:v>
                </c:pt>
                <c:pt idx="1">
                  <c:v>7656</c:v>
                </c:pt>
                <c:pt idx="2">
                  <c:v>9050</c:v>
                </c:pt>
                <c:pt idx="3">
                  <c:v>7606</c:v>
                </c:pt>
                <c:pt idx="4">
                  <c:v>8666</c:v>
                </c:pt>
                <c:pt idx="5">
                  <c:v>9098</c:v>
                </c:pt>
                <c:pt idx="6">
                  <c:v>8620</c:v>
                </c:pt>
                <c:pt idx="7">
                  <c:v>9244</c:v>
                </c:pt>
                <c:pt idx="8">
                  <c:v>8291</c:v>
                </c:pt>
                <c:pt idx="9">
                  <c:v>8435</c:v>
                </c:pt>
                <c:pt idx="10">
                  <c:v>8816</c:v>
                </c:pt>
                <c:pt idx="11">
                  <c:v>8792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F5-4096-B556-26F93BB45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883364032"/>
        <c:axId val="883364512"/>
      </c:areaChart>
      <c:catAx>
        <c:axId val="88336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pPr>
            <a:endParaRPr lang="en-US"/>
          </a:p>
        </c:txPr>
        <c:crossAx val="883364512"/>
        <c:crosses val="autoZero"/>
        <c:auto val="1"/>
        <c:lblAlgn val="ctr"/>
        <c:lblOffset val="100"/>
        <c:noMultiLvlLbl val="0"/>
      </c:catAx>
      <c:valAx>
        <c:axId val="883364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3364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44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5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75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14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9.svg"/><Relationship Id="rId18" Type="http://schemas.openxmlformats.org/officeDocument/2006/relationships/image" Target="../media/image12.png"/><Relationship Id="rId3" Type="http://schemas.openxmlformats.org/officeDocument/2006/relationships/chart" Target="../charts/chart8.xml"/><Relationship Id="rId7" Type="http://schemas.openxmlformats.org/officeDocument/2006/relationships/chart" Target="../charts/chart11.xml"/><Relationship Id="rId12" Type="http://schemas.openxmlformats.org/officeDocument/2006/relationships/image" Target="../media/image8.png"/><Relationship Id="rId17" Type="http://schemas.openxmlformats.org/officeDocument/2006/relationships/image" Target="../media/image7.png"/><Relationship Id="rId2" Type="http://schemas.openxmlformats.org/officeDocument/2006/relationships/chart" Target="../charts/chart7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3.svg"/><Relationship Id="rId5" Type="http://schemas.openxmlformats.org/officeDocument/2006/relationships/chart" Target="../charts/chart10.xml"/><Relationship Id="rId15" Type="http://schemas.openxmlformats.org/officeDocument/2006/relationships/image" Target="../media/image5.png"/><Relationship Id="rId10" Type="http://schemas.openxmlformats.org/officeDocument/2006/relationships/image" Target="../media/image2.png"/><Relationship Id="rId19" Type="http://schemas.openxmlformats.org/officeDocument/2006/relationships/image" Target="../media/image13.png"/><Relationship Id="rId4" Type="http://schemas.openxmlformats.org/officeDocument/2006/relationships/chart" Target="../charts/chart9.xml"/><Relationship Id="rId9" Type="http://schemas.openxmlformats.org/officeDocument/2006/relationships/chart" Target="../charts/chart12.xml"/><Relationship Id="rId1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D998-6DC7-7568-2C77-037E0B0E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8371840" cy="5059680"/>
          </a:xfrm>
        </p:spPr>
        <p:txBody>
          <a:bodyPr>
            <a:normAutofit/>
          </a:bodyPr>
          <a:lstStyle/>
          <a:p>
            <a:r>
              <a:rPr lang="en-IN" sz="2400" b="1" dirty="0"/>
              <a:t>Project Name:</a:t>
            </a:r>
            <a:br>
              <a:rPr lang="en-IN" sz="2400" dirty="0"/>
            </a:br>
            <a:r>
              <a:rPr lang="en-IN" sz="2400" b="1" dirty="0" err="1"/>
              <a:t>Analyzing</a:t>
            </a:r>
            <a:r>
              <a:rPr lang="en-IN" sz="2400" b="1" dirty="0"/>
              <a:t> and Visualizing Regional Sales Performance</a:t>
            </a:r>
            <a:br>
              <a:rPr lang="en-IN" sz="2400" dirty="0"/>
            </a:br>
            <a:r>
              <a:rPr lang="en-IN" sz="2400" b="1" dirty="0"/>
              <a:t>Domain:</a:t>
            </a:r>
            <a:r>
              <a:rPr lang="en-IN" sz="2400" dirty="0"/>
              <a:t> Retail Sales Analytics</a:t>
            </a:r>
            <a:br>
              <a:rPr lang="en-IN" sz="2400" dirty="0"/>
            </a:br>
            <a:r>
              <a:rPr lang="en-IN" sz="2400" b="1" dirty="0"/>
              <a:t>Tool Used:</a:t>
            </a:r>
            <a:r>
              <a:rPr lang="en-IN" sz="2400" dirty="0"/>
              <a:t> Microsoft Excel</a:t>
            </a:r>
            <a:br>
              <a:rPr lang="en-IN" sz="2400" dirty="0"/>
            </a:br>
            <a:r>
              <a:rPr lang="en-IN" sz="2400" b="1" dirty="0"/>
              <a:t>Prepared by:</a:t>
            </a:r>
            <a:r>
              <a:rPr lang="en-IN" sz="2400" dirty="0"/>
              <a:t> </a:t>
            </a:r>
            <a:r>
              <a:rPr lang="en-IN" sz="2400" i="1" dirty="0" err="1"/>
              <a:t>MonikaM</a:t>
            </a:r>
            <a:br>
              <a:rPr lang="en-IN" sz="2400" dirty="0"/>
            </a:br>
            <a:r>
              <a:rPr lang="en-IN" sz="2400" b="1" dirty="0"/>
              <a:t>Institute:</a:t>
            </a:r>
            <a:r>
              <a:rPr lang="en-IN" sz="2400" dirty="0"/>
              <a:t> </a:t>
            </a:r>
            <a:r>
              <a:rPr lang="en-IN" sz="2400" dirty="0" err="1"/>
              <a:t>Vinsup</a:t>
            </a:r>
            <a:r>
              <a:rPr lang="en-IN" sz="2400" dirty="0"/>
              <a:t> Skill Academy, Coimbatore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4E631-7629-0C4C-FDA8-E634B6134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5" name="Picture Placeholder 19" descr="A group of people looking at a computer">
            <a:extLst>
              <a:ext uri="{FF2B5EF4-FFF2-40B4-BE49-F238E27FC236}">
                <a16:creationId xmlns:a16="http://schemas.microsoft.com/office/drawing/2014/main" id="{798AB3FC-2E86-F403-E8E6-189C081CF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" r="16"/>
          <a:stretch/>
        </p:blipFill>
        <p:spPr>
          <a:xfrm>
            <a:off x="8534400" y="1810385"/>
            <a:ext cx="3118848" cy="32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1089660"/>
            <a:ext cx="3543300" cy="1348740"/>
          </a:xfrm>
        </p:spPr>
        <p:txBody>
          <a:bodyPr/>
          <a:lstStyle/>
          <a:p>
            <a:r>
              <a:rPr lang="en-IN" b="1" dirty="0"/>
              <a:t>Business Case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36320" y="2438400"/>
            <a:ext cx="10238105" cy="35052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+mj-lt"/>
              </a:rPr>
              <a:t>Company: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ABC Electronics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ABC Electronics operates across multiple regions and sells various product categories.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Management wants to understand: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Which region performs best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Which products generate highest sales and profit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How discounts affect sales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Monthly sales trends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The goal is to convert raw sales data into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actionable business insights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" y="739139"/>
            <a:ext cx="5257800" cy="1485901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C493F-1FB3-9BDB-7F4A-BC0C9015ECC8}"/>
              </a:ext>
            </a:extLst>
          </p:cNvPr>
          <p:cNvSpPr txBox="1"/>
          <p:nvPr/>
        </p:nvSpPr>
        <p:spPr>
          <a:xfrm>
            <a:off x="853440" y="2026920"/>
            <a:ext cx="10309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ABC Electronics wants to assess its sales performance across different regions and product categories.</a:t>
            </a:r>
            <a:br>
              <a:rPr lang="en-US" dirty="0"/>
            </a:br>
            <a:r>
              <a:rPr lang="en-US" dirty="0"/>
              <a:t>Management requires a summarized and visual report to identify: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Top-performing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Best-selling product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trends</a:t>
            </a:r>
            <a:br>
              <a:rPr lang="en-US" dirty="0"/>
            </a:br>
            <a:r>
              <a:rPr lang="en-US" dirty="0"/>
              <a:t>so that they can take </a:t>
            </a:r>
            <a:r>
              <a:rPr lang="en-US" b="1" dirty="0"/>
              <a:t>better marketing, pricing and inventory decisions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21905908-61C5-E80D-F570-D84DB752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53439"/>
            <a:ext cx="4802373" cy="125730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overview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7CC1959B-E6A9-5770-EC41-43538A9E36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0580" y="2004061"/>
            <a:ext cx="4886555" cy="40005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The dataset contains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4000 sales records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with the following fields: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Order 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Order 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Region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Product Category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Sales Amount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Quantity Sold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Discount (%)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Profit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The data covers sales across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East, West, North and South regions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0" name="Picture Placeholder 19" descr="A group of people looking at a computer">
            <a:extLst>
              <a:ext uri="{FF2B5EF4-FFF2-40B4-BE49-F238E27FC236}">
                <a16:creationId xmlns:a16="http://schemas.microsoft.com/office/drawing/2014/main" id="{3F8EC18D-03A7-9C7B-E8C4-34A8973C74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6" r="16"/>
          <a:stretch/>
        </p:blipFill>
        <p:spPr>
          <a:xfrm>
            <a:off x="6478588" y="920750"/>
            <a:ext cx="5713412" cy="5029200"/>
          </a:xfrm>
        </p:spPr>
      </p:pic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260" y="883285"/>
            <a:ext cx="4945380" cy="9455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Cleaning Process</a:t>
            </a:r>
            <a:br>
              <a:rPr lang="en-US" b="1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0905C-31D4-2937-CDF0-2BD713274674}"/>
              </a:ext>
            </a:extLst>
          </p:cNvPr>
          <p:cNvSpPr txBox="1"/>
          <p:nvPr/>
        </p:nvSpPr>
        <p:spPr>
          <a:xfrm>
            <a:off x="1051560" y="1828800"/>
            <a:ext cx="97307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The raw data had: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Incorrect region names (</a:t>
            </a:r>
            <a:r>
              <a:rPr lang="en-US" dirty="0" err="1">
                <a:latin typeface="+mj-lt"/>
              </a:rPr>
              <a:t>norTh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Mes$t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eAsT</a:t>
            </a:r>
            <a:r>
              <a:rPr lang="en-US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Spacing errors in product names (Cloth </a:t>
            </a:r>
            <a:r>
              <a:rPr lang="en-US" dirty="0" err="1">
                <a:latin typeface="+mj-lt"/>
              </a:rPr>
              <a:t>ing</a:t>
            </a:r>
            <a:r>
              <a:rPr lang="en-US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Incorrect percentage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Blank columns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Cleaning steps performed: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Removed unnecessary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Standardized Region &amp; Product Category using TRIM, PROPER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Converted Discount to %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Removed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Converted Order Date to Date format</a:t>
            </a:r>
          </a:p>
          <a:p>
            <a:r>
              <a:rPr lang="en-US" dirty="0">
                <a:latin typeface="+mj-lt"/>
              </a:rPr>
              <a:t>This created a </a:t>
            </a:r>
            <a:r>
              <a:rPr lang="en-US" b="1" dirty="0">
                <a:latin typeface="+mj-lt"/>
              </a:rPr>
              <a:t>clean, structured dataset ready for analysis</a:t>
            </a:r>
            <a:r>
              <a:rPr lang="en-US" dirty="0">
                <a:latin typeface="+mj-lt"/>
              </a:rPr>
              <a:t>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0A9F6B-B714-24A4-1731-04239F0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00741"/>
            <a:ext cx="4802372" cy="118713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KPIs Used</a:t>
            </a:r>
            <a:br>
              <a:rPr lang="en-US" b="1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098455-F3AD-4CE1-6F83-28C95857EE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912621"/>
            <a:ext cx="4878935" cy="39852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The dashboard shows these key performance indicators: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Total Sales: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₹10.1M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Total Profit: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₹4.0M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Top Region: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East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Top Product Category: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Clothing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Average Discount: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25%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Profit Margin: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~39%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These KPIs give a quick overview of business health.</a:t>
            </a:r>
          </a:p>
          <a:p>
            <a:endParaRPr lang="en-US" noProof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206AD8-CFF1-C87B-EC7E-885E8391727E}"/>
              </a:ext>
            </a:extLst>
          </p:cNvPr>
          <p:cNvGrpSpPr/>
          <p:nvPr/>
        </p:nvGrpSpPr>
        <p:grpSpPr>
          <a:xfrm>
            <a:off x="4783028" y="2439885"/>
            <a:ext cx="6763999" cy="1978229"/>
            <a:chOff x="0" y="0"/>
            <a:chExt cx="5996729" cy="1926644"/>
          </a:xfrm>
          <a:solidFill>
            <a:schemeClr val="accent4">
              <a:lumMod val="75000"/>
            </a:schemeClr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A1190C-9619-FB01-7BC7-3A6C6187EECD}"/>
                </a:ext>
              </a:extLst>
            </p:cNvPr>
            <p:cNvGrpSpPr/>
            <p:nvPr/>
          </p:nvGrpSpPr>
          <p:grpSpPr>
            <a:xfrm>
              <a:off x="0" y="0"/>
              <a:ext cx="5996729" cy="1926644"/>
              <a:chOff x="0" y="0"/>
              <a:chExt cx="4854927" cy="1597498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90D495F-C9FF-DFC6-196E-0BB6712D5BAF}"/>
                  </a:ext>
                </a:extLst>
              </p:cNvPr>
              <p:cNvGrpSpPr/>
              <p:nvPr/>
            </p:nvGrpSpPr>
            <p:grpSpPr>
              <a:xfrm>
                <a:off x="14389" y="0"/>
                <a:ext cx="1472547" cy="746966"/>
                <a:chOff x="14389" y="0"/>
                <a:chExt cx="1461654" cy="651163"/>
              </a:xfrm>
              <a:grpFill/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BA477063-DE42-AFFC-CD58-267692B3129A}"/>
                    </a:ext>
                  </a:extLst>
                </p:cNvPr>
                <p:cNvSpPr/>
                <p:nvPr/>
              </p:nvSpPr>
              <p:spPr>
                <a:xfrm>
                  <a:off x="14389" y="0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IN" sz="1100" dirty="0"/>
                </a:p>
              </p:txBody>
            </p:sp>
            <p:sp>
              <p:nvSpPr>
                <p:cNvPr id="40" name="TextBox 10">
                  <a:extLst>
                    <a:ext uri="{FF2B5EF4-FFF2-40B4-BE49-F238E27FC236}">
                      <a16:creationId xmlns:a16="http://schemas.microsoft.com/office/drawing/2014/main" id="{6E4F850F-51E7-CAF3-B750-44561134CAFE}"/>
                    </a:ext>
                  </a:extLst>
                </p:cNvPr>
                <p:cNvSpPr txBox="1"/>
                <p:nvPr/>
              </p:nvSpPr>
              <p:spPr>
                <a:xfrm>
                  <a:off x="528225" y="325497"/>
                  <a:ext cx="928254" cy="30480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D392A9CA-13CB-4A70-B12B-29E896EEAEA5}" type="TxLink">
                    <a: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pPr marL="0" indent="0" algn="ctr"/>
                    <a:t>₹10.1M</a:t>
                  </a:fld>
                  <a:endParaRPr lang="en-IN" sz="16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41" name="TextBox 11">
                  <a:extLst>
                    <a:ext uri="{FF2B5EF4-FFF2-40B4-BE49-F238E27FC236}">
                      <a16:creationId xmlns:a16="http://schemas.microsoft.com/office/drawing/2014/main" id="{FF7CE260-7917-EE81-A1B5-F8B009B57569}"/>
                    </a:ext>
                  </a:extLst>
                </p:cNvPr>
                <p:cNvSpPr txBox="1"/>
                <p:nvPr/>
              </p:nvSpPr>
              <p:spPr>
                <a:xfrm>
                  <a:off x="26902" y="100856"/>
                  <a:ext cx="611647" cy="512618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Total</a:t>
                  </a:r>
                  <a:r>
                    <a:rPr lang="en-IN" sz="1400" b="1" baseline="0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 Sales</a:t>
                  </a:r>
                  <a:endParaRPr lang="en-IN" sz="14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92D1E27-9034-3494-A70B-95E0637E5F4F}"/>
                  </a:ext>
                </a:extLst>
              </p:cNvPr>
              <p:cNvGrpSpPr/>
              <p:nvPr/>
            </p:nvGrpSpPr>
            <p:grpSpPr>
              <a:xfrm>
                <a:off x="1570321" y="39899"/>
                <a:ext cx="1525953" cy="730448"/>
                <a:chOff x="1567645" y="39899"/>
                <a:chExt cx="1461654" cy="651163"/>
              </a:xfrm>
              <a:grpFill/>
            </p:grpSpPr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B84E04A0-BB70-B45A-4FCC-E3A85B5BDE60}"/>
                    </a:ext>
                  </a:extLst>
                </p:cNvPr>
                <p:cNvSpPr/>
                <p:nvPr/>
              </p:nvSpPr>
              <p:spPr>
                <a:xfrm>
                  <a:off x="1567645" y="39899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IN" sz="1100" dirty="0"/>
                </a:p>
              </p:txBody>
            </p:sp>
            <p:sp>
              <p:nvSpPr>
                <p:cNvPr id="37" name="TextBox 13">
                  <a:extLst>
                    <a:ext uri="{FF2B5EF4-FFF2-40B4-BE49-F238E27FC236}">
                      <a16:creationId xmlns:a16="http://schemas.microsoft.com/office/drawing/2014/main" id="{16413A7D-F1AD-F8F1-F3F2-8919404F982C}"/>
                    </a:ext>
                  </a:extLst>
                </p:cNvPr>
                <p:cNvSpPr txBox="1"/>
                <p:nvPr/>
              </p:nvSpPr>
              <p:spPr>
                <a:xfrm>
                  <a:off x="2225194" y="342555"/>
                  <a:ext cx="796636" cy="30480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35924420-74A3-41A1-8579-0B43F78342BE}" type="TxLink">
                    <a:rPr lang="en-US" sz="18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pPr marL="0" indent="0" algn="ctr"/>
                    <a:t>₹4.0M</a:t>
                  </a:fld>
                  <a:endParaRPr lang="en-IN" sz="18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38" name="TextBox 14">
                  <a:extLst>
                    <a:ext uri="{FF2B5EF4-FFF2-40B4-BE49-F238E27FC236}">
                      <a16:creationId xmlns:a16="http://schemas.microsoft.com/office/drawing/2014/main" id="{DD176465-A6DB-C9B0-D6AD-117A84D2204F}"/>
                    </a:ext>
                  </a:extLst>
                </p:cNvPr>
                <p:cNvSpPr txBox="1"/>
                <p:nvPr/>
              </p:nvSpPr>
              <p:spPr>
                <a:xfrm>
                  <a:off x="1659276" y="133071"/>
                  <a:ext cx="588739" cy="512618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r>
                    <a:rPr lang="en-IN" sz="1400" b="1" dirty="0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Total</a:t>
                  </a:r>
                </a:p>
                <a:p>
                  <a:pPr marL="0" indent="0" algn="ctr"/>
                  <a:r>
                    <a:rPr lang="en-IN" sz="1400" b="1" dirty="0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 Profit</a:t>
                  </a: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02A471C-9DFD-6F28-C911-50920EA1E7C1}"/>
                  </a:ext>
                </a:extLst>
              </p:cNvPr>
              <p:cNvGrpSpPr/>
              <p:nvPr/>
            </p:nvGrpSpPr>
            <p:grpSpPr>
              <a:xfrm>
                <a:off x="0" y="828962"/>
                <a:ext cx="1488951" cy="759580"/>
                <a:chOff x="0" y="828962"/>
                <a:chExt cx="1461654" cy="651163"/>
              </a:xfrm>
              <a:grpFill/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B75FA108-414B-057D-25CA-6ADEAEA4E1F1}"/>
                    </a:ext>
                  </a:extLst>
                </p:cNvPr>
                <p:cNvSpPr/>
                <p:nvPr/>
              </p:nvSpPr>
              <p:spPr>
                <a:xfrm>
                  <a:off x="0" y="828962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/>
                  <a:endParaRPr lang="en-IN"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16">
                  <a:extLst>
                    <a:ext uri="{FF2B5EF4-FFF2-40B4-BE49-F238E27FC236}">
                      <a16:creationId xmlns:a16="http://schemas.microsoft.com/office/drawing/2014/main" id="{38DED352-4C3E-43D4-7978-12B3F1E5947C}"/>
                    </a:ext>
                  </a:extLst>
                </p:cNvPr>
                <p:cNvSpPr txBox="1"/>
                <p:nvPr/>
              </p:nvSpPr>
              <p:spPr>
                <a:xfrm>
                  <a:off x="648357" y="1126590"/>
                  <a:ext cx="803565" cy="33251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BDB999A2-45F3-4988-B564-D5CB16806763}" type="TxLink">
                    <a:rPr lang="en-US" sz="1800" b="1" i="0" u="none" strike="noStrike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Calibri"/>
                    </a:rPr>
                    <a:pPr marL="0" indent="0" algn="ctr"/>
                    <a:t>39.9%</a:t>
                  </a:fld>
                  <a:endParaRPr lang="en-IN" sz="32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35" name="TextBox 17">
                  <a:extLst>
                    <a:ext uri="{FF2B5EF4-FFF2-40B4-BE49-F238E27FC236}">
                      <a16:creationId xmlns:a16="http://schemas.microsoft.com/office/drawing/2014/main" id="{6937FFEA-F240-AD88-84DE-7E9416AE74F0}"/>
                    </a:ext>
                  </a:extLst>
                </p:cNvPr>
                <p:cNvSpPr txBox="1"/>
                <p:nvPr/>
              </p:nvSpPr>
              <p:spPr>
                <a:xfrm>
                  <a:off x="76200" y="888997"/>
                  <a:ext cx="666099" cy="512618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r>
                    <a: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Profit Margin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8F0F674-DB98-A466-A9ED-2208A44F9CBD}"/>
                  </a:ext>
                </a:extLst>
              </p:cNvPr>
              <p:cNvGrpSpPr/>
              <p:nvPr/>
            </p:nvGrpSpPr>
            <p:grpSpPr>
              <a:xfrm>
                <a:off x="1570320" y="817239"/>
                <a:ext cx="1531524" cy="778584"/>
                <a:chOff x="1570320" y="817239"/>
                <a:chExt cx="1461654" cy="651163"/>
              </a:xfrm>
              <a:grpFill/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279F4F79-F0E2-D55B-2792-400D8E4A0099}"/>
                    </a:ext>
                  </a:extLst>
                </p:cNvPr>
                <p:cNvSpPr/>
                <p:nvPr/>
              </p:nvSpPr>
              <p:spPr>
                <a:xfrm>
                  <a:off x="1570320" y="817239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IN" sz="1100"/>
                </a:p>
              </p:txBody>
            </p:sp>
            <p:sp>
              <p:nvSpPr>
                <p:cNvPr id="31" name="TextBox 19">
                  <a:extLst>
                    <a:ext uri="{FF2B5EF4-FFF2-40B4-BE49-F238E27FC236}">
                      <a16:creationId xmlns:a16="http://schemas.microsoft.com/office/drawing/2014/main" id="{CEF1EC2C-79A3-2B9F-2A9E-01449D61DBA6}"/>
                    </a:ext>
                  </a:extLst>
                </p:cNvPr>
                <p:cNvSpPr txBox="1"/>
                <p:nvPr/>
              </p:nvSpPr>
              <p:spPr>
                <a:xfrm>
                  <a:off x="2444940" y="1119639"/>
                  <a:ext cx="576410" cy="30480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BCA7FD41-4AF3-4BB9-998E-157E3EBC4795}" type="TxLink">
                    <a: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pPr marL="0" indent="0" algn="ctr"/>
                    <a:t>25%</a:t>
                  </a:fld>
                  <a:endParaRPr lang="en-US" sz="16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32" name="TextBox 20">
                  <a:extLst>
                    <a:ext uri="{FF2B5EF4-FFF2-40B4-BE49-F238E27FC236}">
                      <a16:creationId xmlns:a16="http://schemas.microsoft.com/office/drawing/2014/main" id="{7E04CC82-6549-3584-52E0-DA2850A70EF2}"/>
                    </a:ext>
                  </a:extLst>
                </p:cNvPr>
                <p:cNvSpPr txBox="1"/>
                <p:nvPr/>
              </p:nvSpPr>
              <p:spPr>
                <a:xfrm>
                  <a:off x="1592227" y="851104"/>
                  <a:ext cx="890031" cy="508415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r>
                    <a: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Ave</a:t>
                  </a:r>
                </a:p>
                <a:p>
                  <a:pPr marL="0" indent="0" algn="ctr"/>
                  <a:r>
                    <a: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Discount %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69C0320-C612-EBD2-7617-A0B11F394FF1}"/>
                  </a:ext>
                </a:extLst>
              </p:cNvPr>
              <p:cNvGrpSpPr/>
              <p:nvPr/>
            </p:nvGrpSpPr>
            <p:grpSpPr>
              <a:xfrm>
                <a:off x="3146973" y="814805"/>
                <a:ext cx="1707954" cy="782693"/>
                <a:chOff x="3146973" y="814805"/>
                <a:chExt cx="1461654" cy="651163"/>
              </a:xfrm>
              <a:grpFill/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8CCFEE5B-8A44-6C01-BA6E-D9A96085EB9B}"/>
                    </a:ext>
                  </a:extLst>
                </p:cNvPr>
                <p:cNvSpPr/>
                <p:nvPr/>
              </p:nvSpPr>
              <p:spPr>
                <a:xfrm>
                  <a:off x="3146973" y="814805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IN" sz="1100"/>
                </a:p>
              </p:txBody>
            </p:sp>
            <p:sp>
              <p:nvSpPr>
                <p:cNvPr id="28" name="TextBox 34">
                  <a:extLst>
                    <a:ext uri="{FF2B5EF4-FFF2-40B4-BE49-F238E27FC236}">
                      <a16:creationId xmlns:a16="http://schemas.microsoft.com/office/drawing/2014/main" id="{8F842CAD-77FB-F6FC-4D86-97B160012908}"/>
                    </a:ext>
                  </a:extLst>
                </p:cNvPr>
                <p:cNvSpPr txBox="1"/>
                <p:nvPr/>
              </p:nvSpPr>
              <p:spPr>
                <a:xfrm>
                  <a:off x="3299843" y="1075732"/>
                  <a:ext cx="954329" cy="30480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53D7D813-A532-486A-905A-3952353A6303}" type="TxLink">
                    <a: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pPr marL="0" indent="0" algn="ctr"/>
                    <a:t>Clothing</a:t>
                  </a:fld>
                  <a:endParaRPr lang="en-US" sz="16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29" name="TextBox 35">
                  <a:extLst>
                    <a:ext uri="{FF2B5EF4-FFF2-40B4-BE49-F238E27FC236}">
                      <a16:creationId xmlns:a16="http://schemas.microsoft.com/office/drawing/2014/main" id="{536A367A-C632-1865-7A9E-F772409A2E5D}"/>
                    </a:ext>
                  </a:extLst>
                </p:cNvPr>
                <p:cNvSpPr txBox="1"/>
                <p:nvPr/>
              </p:nvSpPr>
              <p:spPr>
                <a:xfrm>
                  <a:off x="3177987" y="834459"/>
                  <a:ext cx="1366972" cy="290946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r>
                    <a: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Top Product Category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91A8F67-CF3A-E15D-509F-ABE6AF1186ED}"/>
                  </a:ext>
                </a:extLst>
              </p:cNvPr>
              <p:cNvGrpSpPr/>
              <p:nvPr/>
            </p:nvGrpSpPr>
            <p:grpSpPr>
              <a:xfrm>
                <a:off x="3152483" y="52053"/>
                <a:ext cx="1680846" cy="709921"/>
                <a:chOff x="3152483" y="52053"/>
                <a:chExt cx="1464148" cy="651163"/>
              </a:xfrm>
              <a:grpFill/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BDDE17D2-2C0A-F1B1-4CCE-05B0053BF1A3}"/>
                    </a:ext>
                  </a:extLst>
                </p:cNvPr>
                <p:cNvSpPr/>
                <p:nvPr/>
              </p:nvSpPr>
              <p:spPr>
                <a:xfrm>
                  <a:off x="3154977" y="52053"/>
                  <a:ext cx="1461654" cy="651163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IN" sz="1100"/>
                </a:p>
              </p:txBody>
            </p:sp>
            <p:sp>
              <p:nvSpPr>
                <p:cNvPr id="25" name="TextBox 38">
                  <a:extLst>
                    <a:ext uri="{FF2B5EF4-FFF2-40B4-BE49-F238E27FC236}">
                      <a16:creationId xmlns:a16="http://schemas.microsoft.com/office/drawing/2014/main" id="{97717F32-A518-9315-FE7D-487918B6D61F}"/>
                    </a:ext>
                  </a:extLst>
                </p:cNvPr>
                <p:cNvSpPr txBox="1"/>
                <p:nvPr/>
              </p:nvSpPr>
              <p:spPr>
                <a:xfrm>
                  <a:off x="3152483" y="320638"/>
                  <a:ext cx="1286296" cy="304800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fld id="{47BA8518-CB30-4D67-B75D-2E091F5510D3}" type="TxLink">
                    <a: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pPr marL="0" indent="0" algn="ctr"/>
                    <a:t>East</a:t>
                  </a:fld>
                  <a:endParaRPr lang="en-US" sz="1600" b="1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endParaRPr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E1EEE4D2-07BA-2AE0-D196-5A9D018CA876}"/>
                    </a:ext>
                  </a:extLst>
                </p:cNvPr>
                <p:cNvSpPr txBox="1"/>
                <p:nvPr/>
              </p:nvSpPr>
              <p:spPr>
                <a:xfrm>
                  <a:off x="3231177" y="54528"/>
                  <a:ext cx="1183714" cy="320238"/>
                </a:xfrm>
                <a:prstGeom prst="rect">
                  <a:avLst/>
                </a:prstGeom>
                <a:grp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/>
                  <a:r>
                    <a:rPr lang="en-IN" sz="1400" b="1" dirty="0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rPr>
                    <a:t>Top Region</a:t>
                  </a:r>
                </a:p>
              </p:txBody>
            </p:sp>
          </p:grpSp>
        </p:grpSp>
        <p:pic>
          <p:nvPicPr>
            <p:cNvPr id="11" name="Graphic 47" descr="Bar graph with upward trend with solid fill">
              <a:extLst>
                <a:ext uri="{FF2B5EF4-FFF2-40B4-BE49-F238E27FC236}">
                  <a16:creationId xmlns:a16="http://schemas.microsoft.com/office/drawing/2014/main" id="{A8649FEC-3F62-79EF-B852-76BEFCE60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0501" y="54488"/>
              <a:ext cx="405311" cy="40645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710A727-DDD0-23CF-5C57-48233B615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3246" y="1003379"/>
              <a:ext cx="392206" cy="396221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F63F1A-596F-B5A5-86E0-56955BFF5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274536" y="186641"/>
              <a:ext cx="591114" cy="605071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6966C56-1CBA-816A-4CB0-C51B9AE9F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66516" y="1313757"/>
              <a:ext cx="602406" cy="572506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75ABDFC-42EB-1B4E-F416-439C99ADD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56902" y="1064006"/>
              <a:ext cx="390870" cy="375124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2" name="Graphic 49" descr="Money with solid fill">
              <a:extLst>
                <a:ext uri="{FF2B5EF4-FFF2-40B4-BE49-F238E27FC236}">
                  <a16:creationId xmlns:a16="http://schemas.microsoft.com/office/drawing/2014/main" id="{896520CE-393E-82C9-0A51-CFB8DE75F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69287" y="65695"/>
              <a:ext cx="539781" cy="406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52A1E-B3F7-E1B2-76ED-8F78E74B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 dirty="0"/>
              <a:t>Visualization </a:t>
            </a:r>
            <a:br>
              <a:rPr lang="en-US" dirty="0"/>
            </a:br>
            <a:r>
              <a:rPr lang="en-US" dirty="0"/>
              <a:t>1. </a:t>
            </a:r>
            <a:r>
              <a:rPr lang="en-IN" dirty="0"/>
              <a:t>Region Wise Sales Interpretation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FA875-3763-71DB-D469-91AD79FBE327}"/>
              </a:ext>
            </a:extLst>
          </p:cNvPr>
          <p:cNvSpPr txBox="1"/>
          <p:nvPr/>
        </p:nvSpPr>
        <p:spPr>
          <a:xfrm>
            <a:off x="929640" y="2179320"/>
            <a:ext cx="4739640" cy="33725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latin typeface="+mj-lt"/>
              </a:defRPr>
            </a:lvl1pPr>
            <a:lvl2pPr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The bar chart shows total sales by region.</a:t>
            </a:r>
          </a:p>
          <a:p>
            <a:r>
              <a:rPr lang="en-US" dirty="0"/>
              <a:t>Observation: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East region has the highest sales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North and South perform moderately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West has the lowest sales</a:t>
            </a:r>
          </a:p>
          <a:p>
            <a:endParaRPr lang="en-US" dirty="0"/>
          </a:p>
          <a:p>
            <a:r>
              <a:rPr lang="en-US" b="1" dirty="0"/>
              <a:t>Business Interpretation: </a:t>
            </a:r>
          </a:p>
          <a:p>
            <a:endParaRPr lang="en-US" b="1" dirty="0"/>
          </a:p>
          <a:p>
            <a:r>
              <a:rPr lang="en-US" dirty="0"/>
              <a:t>The East region should be prioritized for marketing and expansion.</a:t>
            </a:r>
          </a:p>
          <a:p>
            <a:endParaRPr lang="en-IN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B9782E2-FC19-457E-AC00-813D37E120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94595"/>
              </p:ext>
            </p:extLst>
          </p:nvPr>
        </p:nvGraphicFramePr>
        <p:xfrm>
          <a:off x="6640113" y="2308357"/>
          <a:ext cx="3407573" cy="2533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1353"/>
            <a:ext cx="10515600" cy="10007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Category Wise Sales Contribution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51A4F1-ABAF-2D28-B31B-A6DC9942FA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80560" y="2153285"/>
            <a:ext cx="6964680" cy="35004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The pie chart shows sales contribution by product category.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Observation: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Clothing contributes the highest share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Electronics, Furniture, Groceries, and Sports have similar shares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Business Interpretation: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Clothing is the most important revenue driver and should be stocked and promoted more.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CFA79E-8365-4C28-A92A-67E3A196A37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39631292"/>
              </p:ext>
            </p:extLst>
          </p:nvPr>
        </p:nvGraphicFramePr>
        <p:xfrm>
          <a:off x="930275" y="2152650"/>
          <a:ext cx="3260725" cy="3500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B5244AC-D906-A60B-5023-D0289CF4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69" y="614812"/>
            <a:ext cx="10359659" cy="1325563"/>
          </a:xfrm>
        </p:spPr>
        <p:txBody>
          <a:bodyPr/>
          <a:lstStyle/>
          <a:p>
            <a:r>
              <a:rPr lang="en-US" b="1" dirty="0"/>
              <a:t>Monthly Sales and Profit Trend</a:t>
            </a:r>
            <a:br>
              <a:rPr lang="en-US" b="1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F9FB22-CA85-FC72-AA81-4708F62AB6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5413" y="2153285"/>
            <a:ext cx="4799012" cy="37903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line chart shows monthly sales and profit.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Observation: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Sales remain fairly stable throughout the year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Profit follows a similar pattern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Slight peaks are visible in mid-year and end-year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Business Interpretation: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The business has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consistent demand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which is a sign of stability.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8CC2E-BB8C-CF5A-C460-C662927C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1" name="Picture Placeholder 10">
            <a:extLst>
              <a:ext uri="{FF2B5EF4-FFF2-40B4-BE49-F238E27FC236}">
                <a16:creationId xmlns:a16="http://schemas.microsoft.com/office/drawing/2014/main" id="{FBF63426-BF8A-4A24-85E2-13D836E1E6CC}"/>
              </a:ext>
            </a:extLst>
          </p:cNvPr>
          <p:cNvGraphicFramePr>
            <a:graphicFrameLocks noGrp="1"/>
          </p:cNvGraphicFramePr>
          <p:nvPr>
            <p:ph type="pic" sz="quarter" idx="11"/>
            <p:extLst>
              <p:ext uri="{D42A27DB-BD31-4B8C-83A1-F6EECF244321}">
                <p14:modId xmlns:p14="http://schemas.microsoft.com/office/powerpoint/2010/main" val="954354114"/>
              </p:ext>
            </p:extLst>
          </p:nvPr>
        </p:nvGraphicFramePr>
        <p:xfrm>
          <a:off x="701041" y="2030888"/>
          <a:ext cx="5151120" cy="4035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27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E21A35-90B9-F235-7F48-11B56D97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598947"/>
            <a:ext cx="10515600" cy="1325563"/>
          </a:xfrm>
        </p:spPr>
        <p:txBody>
          <a:bodyPr/>
          <a:lstStyle/>
          <a:p>
            <a:r>
              <a:rPr lang="en-US" b="1" dirty="0"/>
              <a:t>Sales by Region &amp; Category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342BB7-ACF3-5240-804A-0BA9C5D19F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9641" y="2153285"/>
            <a:ext cx="4587239" cy="37903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The stacked bar chart shows how each product category performs in each region.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Observation: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East leads in most categories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Clothing and Furniture dominate across regions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Business Interpretation: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Regional and category-wise strategies can be designed based on this distribution.</a:t>
            </a:r>
          </a:p>
          <a:p>
            <a:endParaRPr lang="en-US" noProof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44084A-0289-782C-C2AC-07E397FB0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DF3A3DE-733D-4111-8E88-A95FB7849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0472770"/>
              </p:ext>
            </p:extLst>
          </p:nvPr>
        </p:nvGraphicFramePr>
        <p:xfrm>
          <a:off x="6096000" y="1842301"/>
          <a:ext cx="4930140" cy="3400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9554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F8F842-D95F-32E4-59B0-60283CC8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830580"/>
            <a:ext cx="6126480" cy="1186058"/>
          </a:xfrm>
        </p:spPr>
        <p:txBody>
          <a:bodyPr>
            <a:normAutofit/>
          </a:bodyPr>
          <a:lstStyle/>
          <a:p>
            <a:r>
              <a:rPr lang="en-US" b="1" dirty="0"/>
              <a:t>Monthly wise quantity Sold</a:t>
            </a:r>
            <a:br>
              <a:rPr lang="en-US" b="1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B27BAD-9602-6B60-C782-2749DB99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EB40428-B615-4B5B-AB8E-E36B52C9ED68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994314296"/>
              </p:ext>
            </p:extLst>
          </p:nvPr>
        </p:nvGraphicFramePr>
        <p:xfrm>
          <a:off x="6606540" y="1992826"/>
          <a:ext cx="4519295" cy="3500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BE7618F-1FC6-9AD2-B0EA-058AE099BA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9640" y="1992826"/>
            <a:ext cx="5364478" cy="373348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Sales grow from March to August, peak in August, dip in February and September, and rise again towards year-end.</a:t>
            </a:r>
          </a:p>
          <a:p>
            <a:r>
              <a:rPr lang="en-US" b="1" dirty="0">
                <a:solidFill>
                  <a:schemeClr val="tx1"/>
                </a:solidFill>
                <a:latin typeface="+mj-lt"/>
              </a:rPr>
              <a:t>Business Interpretation: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US" dirty="0">
                <a:solidFill>
                  <a:schemeClr val="tx1"/>
                </a:solidFill>
                <a:latin typeface="+mj-lt"/>
              </a:rPr>
              <a:t>Customer demand is strongest in mid-year and during year-end seasons, showing clear seasonal buying behavior.</a:t>
            </a:r>
          </a:p>
          <a:p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236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4C19E8-9349-E5B5-40F0-219E9B89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331450" cy="1531525"/>
          </a:xfrm>
        </p:spPr>
        <p:txBody>
          <a:bodyPr/>
          <a:lstStyle/>
          <a:p>
            <a:r>
              <a:rPr lang="en-US" b="1" dirty="0"/>
              <a:t>Discount vs Sales (Regression)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58D41-330C-C53F-DA7F-276C18D26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9370C-B30A-8990-41A3-B8BDDC20F46F}"/>
              </a:ext>
            </a:extLst>
          </p:cNvPr>
          <p:cNvSpPr txBox="1"/>
          <p:nvPr/>
        </p:nvSpPr>
        <p:spPr>
          <a:xfrm>
            <a:off x="868680" y="2171700"/>
            <a:ext cx="5394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+mj-lt"/>
              </a:rPr>
              <a:t>The scatter plot shows the relationship between Discount and Sales.</a:t>
            </a:r>
          </a:p>
          <a:p>
            <a:pPr>
              <a:buNone/>
            </a:pPr>
            <a:r>
              <a:rPr lang="en-US" b="1" dirty="0">
                <a:latin typeface="+mj-lt"/>
              </a:rPr>
              <a:t>Regression Result:</a:t>
            </a:r>
          </a:p>
          <a:p>
            <a:pPr>
              <a:buNone/>
            </a:pPr>
            <a:endParaRPr lang="en-US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R² = 0.0017 (very weak)</a:t>
            </a:r>
          </a:p>
          <a:p>
            <a:pPr>
              <a:buNone/>
            </a:pPr>
            <a:r>
              <a:rPr lang="en-US" b="1" dirty="0">
                <a:latin typeface="+mj-lt"/>
              </a:rPr>
              <a:t>Business Interpretation:</a:t>
            </a:r>
          </a:p>
          <a:p>
            <a:pPr>
              <a:buNone/>
            </a:pP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Discounts have </a:t>
            </a:r>
            <a:r>
              <a:rPr lang="en-US" b="1" dirty="0">
                <a:latin typeface="+mj-lt"/>
              </a:rPr>
              <a:t>very little impact</a:t>
            </a:r>
            <a:r>
              <a:rPr lang="en-US" dirty="0">
                <a:latin typeface="+mj-lt"/>
              </a:rPr>
              <a:t> on sales.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The company should avoid heavy discounts and focus on </a:t>
            </a:r>
            <a:r>
              <a:rPr lang="en-US" b="1" dirty="0">
                <a:latin typeface="+mj-lt"/>
              </a:rPr>
              <a:t>value and branding instead</a:t>
            </a:r>
            <a:r>
              <a:rPr lang="en-US" dirty="0">
                <a:latin typeface="+mj-lt"/>
              </a:rPr>
              <a:t>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B809ECB-6EA7-41D9-900C-7EF1AEC361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808834"/>
              </p:ext>
            </p:extLst>
          </p:nvPr>
        </p:nvGraphicFramePr>
        <p:xfrm>
          <a:off x="6497665" y="2109061"/>
          <a:ext cx="4073470" cy="3005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408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F278-54C1-BBBF-600B-15EAB86D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FF7F1756-E7B2-4A24-FD22-334C3934232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9190-BDEA-6258-2CAF-04E8482C0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93E377-AEA3-3972-50D8-9B5CFF10E6B2}"/>
              </a:ext>
            </a:extLst>
          </p:cNvPr>
          <p:cNvGrpSpPr/>
          <p:nvPr/>
        </p:nvGrpSpPr>
        <p:grpSpPr>
          <a:xfrm>
            <a:off x="0" y="0"/>
            <a:ext cx="12192000" cy="7030720"/>
            <a:chOff x="0" y="0"/>
            <a:chExt cx="13850319" cy="85785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B7ABE6-E939-BF01-6AC1-DC08231F2E2C}"/>
                </a:ext>
              </a:extLst>
            </p:cNvPr>
            <p:cNvSpPr/>
            <p:nvPr/>
          </p:nvSpPr>
          <p:spPr>
            <a:xfrm>
              <a:off x="0" y="587384"/>
              <a:ext cx="13830327" cy="7991167"/>
            </a:xfrm>
            <a:prstGeom prst="rect">
              <a:avLst/>
            </a:prstGeom>
            <a:gradFill>
              <a:gsLst>
                <a:gs pos="0">
                  <a:srgbClr val="FFFBFD"/>
                </a:gs>
                <a:gs pos="100000">
                  <a:schemeClr val="bg2"/>
                </a:gs>
              </a:gsLst>
              <a:path path="circle">
                <a:fillToRect t="100000" r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BB9782E2-FC19-457E-AC00-813D37E120A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32158617"/>
                </p:ext>
              </p:extLst>
            </p:nvPr>
          </p:nvGraphicFramePr>
          <p:xfrm>
            <a:off x="2528808" y="2900531"/>
            <a:ext cx="3407573" cy="253300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ADF3A3DE-733D-4111-8E88-A95FB7849AC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88709400"/>
                </p:ext>
              </p:extLst>
            </p:nvPr>
          </p:nvGraphicFramePr>
          <p:xfrm>
            <a:off x="2683790" y="5420846"/>
            <a:ext cx="3306305" cy="26552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3A0EFA03-9EF7-68CC-1469-8C453F3F94F9}"/>
                </a:ext>
              </a:extLst>
            </p:cNvPr>
            <p:cNvSpPr/>
            <p:nvPr/>
          </p:nvSpPr>
          <p:spPr>
            <a:xfrm rot="10800000">
              <a:off x="0" y="639046"/>
              <a:ext cx="2541722" cy="7706791"/>
            </a:xfrm>
            <a:prstGeom prst="round1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6FCFA79E-8365-4C28-A92A-67E3A196A37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71119446"/>
                </p:ext>
              </p:extLst>
            </p:nvPr>
          </p:nvGraphicFramePr>
          <p:xfrm>
            <a:off x="5991340" y="2759537"/>
            <a:ext cx="3161841" cy="25052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FBF63426-BF8A-4A24-85E2-13D836E1E6C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92364322"/>
                </p:ext>
              </p:extLst>
            </p:nvPr>
          </p:nvGraphicFramePr>
          <p:xfrm>
            <a:off x="9137373" y="2715035"/>
            <a:ext cx="4609623" cy="23926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pic>
          <p:nvPicPr>
            <p:cNvPr id="12" name="table">
              <a:extLst>
                <a:ext uri="{FF2B5EF4-FFF2-40B4-BE49-F238E27FC236}">
                  <a16:creationId xmlns:a16="http://schemas.microsoft.com/office/drawing/2014/main" id="{31678241-DF44-E594-5A40-4CD1FBCB9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62" y="2168727"/>
              <a:ext cx="2319579" cy="1505054"/>
            </a:xfrm>
            <a:prstGeom prst="rect">
              <a:avLst/>
            </a:prstGeom>
          </p:spPr>
        </p:pic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8B809ECB-6EA7-41D9-900C-7EF1AEC361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22447402"/>
                </p:ext>
              </p:extLst>
            </p:nvPr>
          </p:nvGraphicFramePr>
          <p:xfrm>
            <a:off x="9634780" y="5236876"/>
            <a:ext cx="4073470" cy="300563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pic>
          <p:nvPicPr>
            <p:cNvPr id="14" name="table">
              <a:extLst>
                <a:ext uri="{FF2B5EF4-FFF2-40B4-BE49-F238E27FC236}">
                  <a16:creationId xmlns:a16="http://schemas.microsoft.com/office/drawing/2014/main" id="{4CD4566D-8E6B-5C7B-D98B-D4DE083C2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491" y="3834798"/>
              <a:ext cx="2373823" cy="1769438"/>
            </a:xfrm>
            <a:prstGeom prst="rect">
              <a:avLst/>
            </a:prstGeom>
          </p:spPr>
        </p:pic>
        <p:sp>
          <p:nvSpPr>
            <p:cNvPr id="15" name="TextBox 42">
              <a:extLst>
                <a:ext uri="{FF2B5EF4-FFF2-40B4-BE49-F238E27FC236}">
                  <a16:creationId xmlns:a16="http://schemas.microsoft.com/office/drawing/2014/main" id="{19892A9C-A18A-47D1-8AE5-621360C1E9D7}"/>
                </a:ext>
              </a:extLst>
            </p:cNvPr>
            <p:cNvSpPr txBox="1"/>
            <p:nvPr/>
          </p:nvSpPr>
          <p:spPr>
            <a:xfrm>
              <a:off x="0" y="756998"/>
              <a:ext cx="2528807" cy="140836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2400" b="1" dirty="0">
                  <a:solidFill>
                    <a:sysClr val="windowText" lastClr="0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Regional Sales Performance Analysis</a:t>
              </a:r>
            </a:p>
          </p:txBody>
        </p:sp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2EB40428-B615-4B5B-AB8E-E36B52C9ED6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6072396"/>
                </p:ext>
              </p:extLst>
            </p:nvPr>
          </p:nvGraphicFramePr>
          <p:xfrm>
            <a:off x="6041756" y="5572763"/>
            <a:ext cx="3412211" cy="23298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9206AD8-CFF1-C87B-EC7E-885E8391727E}"/>
                </a:ext>
              </a:extLst>
            </p:cNvPr>
            <p:cNvGrpSpPr/>
            <p:nvPr/>
          </p:nvGrpSpPr>
          <p:grpSpPr>
            <a:xfrm>
              <a:off x="2914442" y="672495"/>
              <a:ext cx="6877904" cy="1978229"/>
              <a:chOff x="2914442" y="672495"/>
              <a:chExt cx="6097713" cy="1926644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CA1190C-9619-FB01-7BC7-3A6C6187EECD}"/>
                  </a:ext>
                </a:extLst>
              </p:cNvPr>
              <p:cNvGrpSpPr/>
              <p:nvPr/>
            </p:nvGrpSpPr>
            <p:grpSpPr>
              <a:xfrm>
                <a:off x="2914442" y="672495"/>
                <a:ext cx="6097713" cy="1926644"/>
                <a:chOff x="2914442" y="672495"/>
                <a:chExt cx="4936683" cy="1597498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090D495F-C9FF-DFC6-196E-0BB6712D5BAF}"/>
                    </a:ext>
                  </a:extLst>
                </p:cNvPr>
                <p:cNvGrpSpPr/>
                <p:nvPr/>
              </p:nvGrpSpPr>
              <p:grpSpPr>
                <a:xfrm>
                  <a:off x="2928831" y="672495"/>
                  <a:ext cx="1472547" cy="746966"/>
                  <a:chOff x="2928831" y="672495"/>
                  <a:chExt cx="1461654" cy="651163"/>
                </a:xfrm>
              </p:grpSpPr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BA477063-DE42-AFFC-CD58-267692B3129A}"/>
                      </a:ext>
                    </a:extLst>
                  </p:cNvPr>
                  <p:cNvSpPr/>
                  <p:nvPr/>
                </p:nvSpPr>
                <p:spPr>
                  <a:xfrm>
                    <a:off x="2928831" y="672495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IN" sz="1100"/>
                  </a:p>
                </p:txBody>
              </p:sp>
              <p:sp>
                <p:nvSpPr>
                  <p:cNvPr id="51" name="TextBox 10">
                    <a:extLst>
                      <a:ext uri="{FF2B5EF4-FFF2-40B4-BE49-F238E27FC236}">
                        <a16:creationId xmlns:a16="http://schemas.microsoft.com/office/drawing/2014/main" id="{6E4F850F-51E7-CAF3-B750-44561134CAFE}"/>
                      </a:ext>
                    </a:extLst>
                  </p:cNvPr>
                  <p:cNvSpPr txBox="1"/>
                  <p:nvPr/>
                </p:nvSpPr>
                <p:spPr>
                  <a:xfrm>
                    <a:off x="3442667" y="997992"/>
                    <a:ext cx="928254" cy="30480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D392A9CA-13CB-4A70-B12B-29E896EEAEA5}" type="TxLink">
                      <a:rPr lang="en-US" sz="16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pPr marL="0" indent="0" algn="ctr"/>
                      <a:t>₹10.1M</a:t>
                    </a:fld>
                    <a:endParaRPr lang="en-IN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52" name="TextBox 11">
                    <a:extLst>
                      <a:ext uri="{FF2B5EF4-FFF2-40B4-BE49-F238E27FC236}">
                        <a16:creationId xmlns:a16="http://schemas.microsoft.com/office/drawing/2014/main" id="{FF7CE260-7917-EE81-A1B5-F8B009B57569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344" y="773351"/>
                    <a:ext cx="611647" cy="512618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Total</a:t>
                    </a:r>
                    <a:r>
                      <a:rPr lang="en-IN" sz="1400" b="1" baseline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a:t> Sales</a:t>
                    </a:r>
                    <a:endParaRPr lang="en-IN" sz="14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C92D1E27-9034-3494-A70B-95E0637E5F4F}"/>
                    </a:ext>
                  </a:extLst>
                </p:cNvPr>
                <p:cNvGrpSpPr/>
                <p:nvPr/>
              </p:nvGrpSpPr>
              <p:grpSpPr>
                <a:xfrm>
                  <a:off x="4421241" y="712394"/>
                  <a:ext cx="1589476" cy="730448"/>
                  <a:chOff x="4421241" y="712394"/>
                  <a:chExt cx="1522500" cy="651163"/>
                </a:xfrm>
              </p:grpSpPr>
              <p:sp>
                <p:nvSpPr>
                  <p:cNvPr id="47" name="Rectangle: Rounded Corners 46">
                    <a:extLst>
                      <a:ext uri="{FF2B5EF4-FFF2-40B4-BE49-F238E27FC236}">
                        <a16:creationId xmlns:a16="http://schemas.microsoft.com/office/drawing/2014/main" id="{B84E04A0-BB70-B45A-4FCC-E3A85B5BDE60}"/>
                      </a:ext>
                    </a:extLst>
                  </p:cNvPr>
                  <p:cNvSpPr/>
                  <p:nvPr/>
                </p:nvSpPr>
                <p:spPr>
                  <a:xfrm>
                    <a:off x="4482087" y="712394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IN" sz="1100"/>
                  </a:p>
                </p:txBody>
              </p:sp>
              <p:sp>
                <p:nvSpPr>
                  <p:cNvPr id="48" name="TextBox 13">
                    <a:extLst>
                      <a:ext uri="{FF2B5EF4-FFF2-40B4-BE49-F238E27FC236}">
                        <a16:creationId xmlns:a16="http://schemas.microsoft.com/office/drawing/2014/main" id="{16413A7D-F1AD-F8F1-F3F2-8919404F982C}"/>
                      </a:ext>
                    </a:extLst>
                  </p:cNvPr>
                  <p:cNvSpPr txBox="1"/>
                  <p:nvPr/>
                </p:nvSpPr>
                <p:spPr>
                  <a:xfrm>
                    <a:off x="5139636" y="1015050"/>
                    <a:ext cx="796636" cy="30480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35924420-74A3-41A1-8579-0B43F78342BE}" type="TxLink">
                      <a:rPr lang="en-US" sz="18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pPr marL="0" indent="0" algn="ctr"/>
                      <a:t>₹4.0M</a:t>
                    </a:fld>
                    <a:endParaRPr lang="en-IN" sz="1800" b="1" dirty="0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49" name="TextBox 14">
                    <a:extLst>
                      <a:ext uri="{FF2B5EF4-FFF2-40B4-BE49-F238E27FC236}">
                        <a16:creationId xmlns:a16="http://schemas.microsoft.com/office/drawing/2014/main" id="{DD176465-A6DB-C9B0-D6AD-117A84D2204F}"/>
                      </a:ext>
                    </a:extLst>
                  </p:cNvPr>
                  <p:cNvSpPr txBox="1"/>
                  <p:nvPr/>
                </p:nvSpPr>
                <p:spPr>
                  <a:xfrm>
                    <a:off x="4421241" y="805566"/>
                    <a:ext cx="741217" cy="512618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r>
                      <a:rPr lang="en-IN" sz="14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Total</a:t>
                    </a:r>
                  </a:p>
                  <a:p>
                    <a:pPr marL="0" indent="0" algn="ctr"/>
                    <a:r>
                      <a:rPr lang="en-IN" sz="14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 Profit</a:t>
                    </a: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402A471C-9DFD-6F28-C911-50920EA1E7C1}"/>
                    </a:ext>
                  </a:extLst>
                </p:cNvPr>
                <p:cNvGrpSpPr/>
                <p:nvPr/>
              </p:nvGrpSpPr>
              <p:grpSpPr>
                <a:xfrm>
                  <a:off x="2914442" y="1501457"/>
                  <a:ext cx="1488951" cy="759580"/>
                  <a:chOff x="2914442" y="1501457"/>
                  <a:chExt cx="1461654" cy="651163"/>
                </a:xfrm>
              </p:grpSpPr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B75FA108-414B-057D-25CA-6ADEAEA4E1F1}"/>
                      </a:ext>
                    </a:extLst>
                  </p:cNvPr>
                  <p:cNvSpPr/>
                  <p:nvPr/>
                </p:nvSpPr>
                <p:spPr>
                  <a:xfrm>
                    <a:off x="2914442" y="1501457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l"/>
                    <a:endParaRPr lang="en-IN"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TextBox 16">
                    <a:extLst>
                      <a:ext uri="{FF2B5EF4-FFF2-40B4-BE49-F238E27FC236}">
                        <a16:creationId xmlns:a16="http://schemas.microsoft.com/office/drawing/2014/main" id="{38DED352-4C3E-43D4-7978-12B3F1E5947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2799" y="1799085"/>
                    <a:ext cx="803565" cy="33251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BDB999A2-45F3-4988-B564-D5CB16806763}" type="TxLink">
                      <a:rPr lang="en-US" sz="1800" b="1" i="0" u="none" strike="noStrike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rPr>
                      <a:pPr marL="0" indent="0" algn="ctr"/>
                      <a:t>39.9%</a:t>
                    </a:fld>
                    <a:endParaRPr lang="en-IN" sz="32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46" name="TextBox 17">
                    <a:extLst>
                      <a:ext uri="{FF2B5EF4-FFF2-40B4-BE49-F238E27FC236}">
                        <a16:creationId xmlns:a16="http://schemas.microsoft.com/office/drawing/2014/main" id="{6937FFEA-F240-AD88-84DE-7E9416AE74F0}"/>
                      </a:ext>
                    </a:extLst>
                  </p:cNvPr>
                  <p:cNvSpPr txBox="1"/>
                  <p:nvPr/>
                </p:nvSpPr>
                <p:spPr>
                  <a:xfrm>
                    <a:off x="2990642" y="1561492"/>
                    <a:ext cx="666099" cy="512618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ctr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Profit Margin</a:t>
                    </a: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B8F0F674-DB98-A466-A9ED-2208A44F9CBD}"/>
                    </a:ext>
                  </a:extLst>
                </p:cNvPr>
                <p:cNvGrpSpPr/>
                <p:nvPr/>
              </p:nvGrpSpPr>
              <p:grpSpPr>
                <a:xfrm>
                  <a:off x="4484762" y="1489734"/>
                  <a:ext cx="1531524" cy="778584"/>
                  <a:chOff x="4484762" y="1489734"/>
                  <a:chExt cx="1461654" cy="651163"/>
                </a:xfrm>
              </p:grpSpPr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279F4F79-F0E2-D55B-2792-400D8E4A0099}"/>
                      </a:ext>
                    </a:extLst>
                  </p:cNvPr>
                  <p:cNvSpPr/>
                  <p:nvPr/>
                </p:nvSpPr>
                <p:spPr>
                  <a:xfrm>
                    <a:off x="4484762" y="1489734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IN" sz="1100"/>
                  </a:p>
                </p:txBody>
              </p:sp>
              <p:sp>
                <p:nvSpPr>
                  <p:cNvPr id="42" name="TextBox 19">
                    <a:extLst>
                      <a:ext uri="{FF2B5EF4-FFF2-40B4-BE49-F238E27FC236}">
                        <a16:creationId xmlns:a16="http://schemas.microsoft.com/office/drawing/2014/main" id="{CEF1EC2C-79A3-2B9F-2A9E-01449D61DBA6}"/>
                      </a:ext>
                    </a:extLst>
                  </p:cNvPr>
                  <p:cNvSpPr txBox="1"/>
                  <p:nvPr/>
                </p:nvSpPr>
                <p:spPr>
                  <a:xfrm>
                    <a:off x="5359382" y="1792134"/>
                    <a:ext cx="576410" cy="30480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BCA7FD41-4AF3-4BB9-998E-157E3EBC4795}" type="TxLink">
                      <a:rPr lang="en-US" sz="16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pPr marL="0" indent="0" algn="ctr"/>
                      <a:t>25%</a:t>
                    </a:fld>
                    <a:endPara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43" name="TextBox 20">
                    <a:extLst>
                      <a:ext uri="{FF2B5EF4-FFF2-40B4-BE49-F238E27FC236}">
                        <a16:creationId xmlns:a16="http://schemas.microsoft.com/office/drawing/2014/main" id="{7E04CC82-6549-3584-52E0-DA2850A70EF2}"/>
                      </a:ext>
                    </a:extLst>
                  </p:cNvPr>
                  <p:cNvSpPr txBox="1"/>
                  <p:nvPr/>
                </p:nvSpPr>
                <p:spPr>
                  <a:xfrm>
                    <a:off x="4506669" y="1523599"/>
                    <a:ext cx="890031" cy="50841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ctr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Ave</a:t>
                    </a:r>
                  </a:p>
                  <a:p>
                    <a:pPr marL="0" indent="0"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Discount %</a:t>
                    </a: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169C0320-C612-EBD2-7617-A0B11F394FF1}"/>
                    </a:ext>
                  </a:extLst>
                </p:cNvPr>
                <p:cNvGrpSpPr/>
                <p:nvPr/>
              </p:nvGrpSpPr>
              <p:grpSpPr>
                <a:xfrm>
                  <a:off x="6061415" y="1487300"/>
                  <a:ext cx="1789710" cy="782693"/>
                  <a:chOff x="6061415" y="1487300"/>
                  <a:chExt cx="1531620" cy="651163"/>
                </a:xfrm>
              </p:grpSpPr>
              <p:sp>
                <p:nvSpPr>
                  <p:cNvPr id="38" name="Rectangle: Rounded Corners 37">
                    <a:extLst>
                      <a:ext uri="{FF2B5EF4-FFF2-40B4-BE49-F238E27FC236}">
                        <a16:creationId xmlns:a16="http://schemas.microsoft.com/office/drawing/2014/main" id="{8CCFEE5B-8A44-6C01-BA6E-D9A96085EB9B}"/>
                      </a:ext>
                    </a:extLst>
                  </p:cNvPr>
                  <p:cNvSpPr/>
                  <p:nvPr/>
                </p:nvSpPr>
                <p:spPr>
                  <a:xfrm>
                    <a:off x="6061415" y="1487300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IN" sz="1100"/>
                  </a:p>
                </p:txBody>
              </p:sp>
              <p:sp>
                <p:nvSpPr>
                  <p:cNvPr id="39" name="TextBox 34">
                    <a:extLst>
                      <a:ext uri="{FF2B5EF4-FFF2-40B4-BE49-F238E27FC236}">
                        <a16:creationId xmlns:a16="http://schemas.microsoft.com/office/drawing/2014/main" id="{8F842CAD-77FB-F6FC-4D86-97B160012908}"/>
                      </a:ext>
                    </a:extLst>
                  </p:cNvPr>
                  <p:cNvSpPr txBox="1"/>
                  <p:nvPr/>
                </p:nvSpPr>
                <p:spPr>
                  <a:xfrm>
                    <a:off x="6214285" y="1748227"/>
                    <a:ext cx="954329" cy="30480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53D7D813-A532-486A-905A-3952353A6303}" type="TxLink">
                      <a:rPr lang="en-US" sz="16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pPr marL="0" indent="0" algn="ctr"/>
                      <a:t>Clothing</a:t>
                    </a:fld>
                    <a:endPara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40" name="TextBox 35">
                    <a:extLst>
                      <a:ext uri="{FF2B5EF4-FFF2-40B4-BE49-F238E27FC236}">
                        <a16:creationId xmlns:a16="http://schemas.microsoft.com/office/drawing/2014/main" id="{536A367A-C632-1865-7A9E-F772409A2E5D}"/>
                      </a:ext>
                    </a:extLst>
                  </p:cNvPr>
                  <p:cNvSpPr txBox="1"/>
                  <p:nvPr/>
                </p:nvSpPr>
                <p:spPr>
                  <a:xfrm>
                    <a:off x="6137614" y="1512843"/>
                    <a:ext cx="1455421" cy="290946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Top Product Category</a:t>
                    </a:r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391A8F67-CF3A-E15D-509F-ABE6AF1186ED}"/>
                    </a:ext>
                  </a:extLst>
                </p:cNvPr>
                <p:cNvGrpSpPr/>
                <p:nvPr/>
              </p:nvGrpSpPr>
              <p:grpSpPr>
                <a:xfrm>
                  <a:off x="6066925" y="724548"/>
                  <a:ext cx="1680846" cy="709921"/>
                  <a:chOff x="6066925" y="724548"/>
                  <a:chExt cx="1464148" cy="651163"/>
                </a:xfrm>
              </p:grpSpPr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BDDE17D2-2C0A-F1B1-4CCE-05B0053BF1A3}"/>
                      </a:ext>
                    </a:extLst>
                  </p:cNvPr>
                  <p:cNvSpPr/>
                  <p:nvPr/>
                </p:nvSpPr>
                <p:spPr>
                  <a:xfrm>
                    <a:off x="6069419" y="724548"/>
                    <a:ext cx="1461654" cy="651163"/>
                  </a:xfrm>
                  <a:prstGeom prst="round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IN" sz="1100"/>
                  </a:p>
                </p:txBody>
              </p:sp>
              <p:sp>
                <p:nvSpPr>
                  <p:cNvPr id="36" name="TextBox 38">
                    <a:extLst>
                      <a:ext uri="{FF2B5EF4-FFF2-40B4-BE49-F238E27FC236}">
                        <a16:creationId xmlns:a16="http://schemas.microsoft.com/office/drawing/2014/main" id="{97717F32-A518-9315-FE7D-487918B6D61F}"/>
                      </a:ext>
                    </a:extLst>
                  </p:cNvPr>
                  <p:cNvSpPr txBox="1"/>
                  <p:nvPr/>
                </p:nvSpPr>
                <p:spPr>
                  <a:xfrm>
                    <a:off x="6066925" y="993133"/>
                    <a:ext cx="1286296" cy="304800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fld id="{47BA8518-CB30-4D67-B75D-2E091F5510D3}" type="TxLink">
                      <a:rPr lang="en-US" sz="16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pPr marL="0" indent="0" algn="ctr"/>
                      <a:t>East</a:t>
                    </a:fld>
                    <a:endParaRPr lang="en-US" sz="1600" b="1">
                      <a:solidFill>
                        <a:schemeClr val="bg1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  <a:cs typeface="+mn-cs"/>
                    </a:endParaRPr>
                  </a:p>
                </p:txBody>
              </p:sp>
              <p:sp>
                <p:nvSpPr>
                  <p:cNvPr id="37" name="TextBox 39">
                    <a:extLst>
                      <a:ext uri="{FF2B5EF4-FFF2-40B4-BE49-F238E27FC236}">
                        <a16:creationId xmlns:a16="http://schemas.microsoft.com/office/drawing/2014/main" id="{E1EEE4D2-07BA-2AE0-D196-5A9D018CA876}"/>
                      </a:ext>
                    </a:extLst>
                  </p:cNvPr>
                  <p:cNvSpPr txBox="1"/>
                  <p:nvPr/>
                </p:nvSpPr>
                <p:spPr>
                  <a:xfrm>
                    <a:off x="6145619" y="727023"/>
                    <a:ext cx="1183714" cy="320238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/>
                    <a:r>
                      <a:rPr lang="en-IN" sz="1400" b="1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rPr>
                      <a:t>Top Region</a:t>
                    </a:r>
                  </a:p>
                </p:txBody>
              </p:sp>
            </p:grpSp>
          </p:grpSp>
          <p:pic>
            <p:nvPicPr>
              <p:cNvPr id="23" name="Graphic 47" descr="Bar graph with upward trend with solid fill">
                <a:extLst>
                  <a:ext uri="{FF2B5EF4-FFF2-40B4-BE49-F238E27FC236}">
                    <a16:creationId xmlns:a16="http://schemas.microsoft.com/office/drawing/2014/main" id="{A8649FEC-3F62-79EF-B852-76BEFCE60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004943" y="726983"/>
                <a:ext cx="405311" cy="406451"/>
              </a:xfrm>
              <a:prstGeom prst="rect">
                <a:avLst/>
              </a:prstGeom>
            </p:spPr>
          </p:pic>
          <p:pic>
            <p:nvPicPr>
              <p:cNvPr id="24" name="Graphic 49" descr="Money with solid fill">
                <a:extLst>
                  <a:ext uri="{FF2B5EF4-FFF2-40B4-BE49-F238E27FC236}">
                    <a16:creationId xmlns:a16="http://schemas.microsoft.com/office/drawing/2014/main" id="{896520CE-393E-82C9-0A51-CFB8DE75F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083729" y="738190"/>
                <a:ext cx="539781" cy="406451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710A727-DDD0-23CF-5C57-48233B615D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7688" y="1675874"/>
                <a:ext cx="392206" cy="396221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DF63F1A-596F-B5A5-86E0-56955BFF5A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188978" y="859136"/>
                <a:ext cx="591114" cy="6050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6966C56-1CBA-816A-4CB0-C51B9AE9F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25403" y="1882637"/>
                <a:ext cx="602406" cy="572506"/>
              </a:xfrm>
              <a:prstGeom prst="rect">
                <a:avLst/>
              </a:prstGeom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675ABDFC-42EB-1B4E-F416-439C99ADD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1344" y="1736501"/>
                <a:ext cx="390870" cy="375124"/>
              </a:xfrm>
              <a:prstGeom prst="rect">
                <a:avLst/>
              </a:prstGeom>
            </p:spPr>
          </p:pic>
        </p:grpSp>
        <p:sp>
          <p:nvSpPr>
            <p:cNvPr id="18" name="TextBox 2054">
              <a:extLst>
                <a:ext uri="{FF2B5EF4-FFF2-40B4-BE49-F238E27FC236}">
                  <a16:creationId xmlns:a16="http://schemas.microsoft.com/office/drawing/2014/main" id="{194674B3-32A2-32CA-4DDE-FA1914CD87CE}"/>
                </a:ext>
              </a:extLst>
            </p:cNvPr>
            <p:cNvSpPr txBox="1"/>
            <p:nvPr/>
          </p:nvSpPr>
          <p:spPr>
            <a:xfrm>
              <a:off x="0" y="0"/>
              <a:ext cx="13850319" cy="60029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4000" b="1" dirty="0">
                  <a:latin typeface="Cambria" panose="02040503050406030204" pitchFamily="18" charset="0"/>
                  <a:ea typeface="Cambria" panose="02040503050406030204" pitchFamily="18" charset="0"/>
                </a:rPr>
                <a:t>Dashboard</a:t>
              </a:r>
            </a:p>
          </p:txBody>
        </p:sp>
        <p:pic>
          <p:nvPicPr>
            <p:cNvPr id="19" name="table">
              <a:extLst>
                <a:ext uri="{FF2B5EF4-FFF2-40B4-BE49-F238E27FC236}">
                  <a16:creationId xmlns:a16="http://schemas.microsoft.com/office/drawing/2014/main" id="{0E967BAA-16C5-A537-91C8-61B0AF994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6236" y="5656362"/>
              <a:ext cx="2280835" cy="179305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CD6B84-9660-A0B5-C780-2BFCC6191802}"/>
                </a:ext>
              </a:extLst>
            </p:cNvPr>
            <p:cNvSpPr/>
            <p:nvPr/>
          </p:nvSpPr>
          <p:spPr>
            <a:xfrm>
              <a:off x="0" y="25829"/>
              <a:ext cx="13811573" cy="535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pic>
          <p:nvPicPr>
            <p:cNvPr id="21" name="table">
              <a:extLst>
                <a:ext uri="{FF2B5EF4-FFF2-40B4-BE49-F238E27FC236}">
                  <a16:creationId xmlns:a16="http://schemas.microsoft.com/office/drawing/2014/main" id="{CC46704C-3DA0-B753-2A29-45B84D6AC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011905" y="783180"/>
              <a:ext cx="3670515" cy="1424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946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010E-0FDE-F57E-E9B3-C030DAEC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693420"/>
            <a:ext cx="10331450" cy="1323218"/>
          </a:xfrm>
        </p:spPr>
        <p:txBody>
          <a:bodyPr/>
          <a:lstStyle/>
          <a:p>
            <a:r>
              <a:rPr lang="en-US" b="1" dirty="0"/>
              <a:t>Final Business Recommendations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1DD7-E047-EB8F-1036-B6C60BC7C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30966-9549-1AB6-358E-BAE34C60C817}"/>
              </a:ext>
            </a:extLst>
          </p:cNvPr>
          <p:cNvSpPr txBox="1"/>
          <p:nvPr/>
        </p:nvSpPr>
        <p:spPr>
          <a:xfrm>
            <a:off x="929640" y="1797456"/>
            <a:ext cx="5532120" cy="212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Focus marketing efforts on </a:t>
            </a:r>
            <a:r>
              <a:rPr lang="en-US" b="1" dirty="0">
                <a:latin typeface="+mj-lt"/>
              </a:rPr>
              <a:t>East region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Invest more in </a:t>
            </a:r>
            <a:r>
              <a:rPr lang="en-US" b="1" dirty="0">
                <a:latin typeface="+mj-lt"/>
              </a:rPr>
              <a:t>Clothing category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Reduce unnecessary discounts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Maintain stock for consistently selling products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 monthly trend to plan inventory</a:t>
            </a:r>
          </a:p>
        </p:txBody>
      </p:sp>
    </p:spTree>
    <p:extLst>
      <p:ext uri="{BB962C8B-B14F-4D97-AF65-F5344CB8AC3E}">
        <p14:creationId xmlns:p14="http://schemas.microsoft.com/office/powerpoint/2010/main" val="3830507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5643-C8AA-5C69-B87D-0A7F4EAD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521321"/>
            <a:ext cx="10019030" cy="802667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28989-BC84-6746-4B21-F518B4959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0286A-3456-09C0-9D90-B5FB33FDBDC2}"/>
              </a:ext>
            </a:extLst>
          </p:cNvPr>
          <p:cNvSpPr txBox="1"/>
          <p:nvPr/>
        </p:nvSpPr>
        <p:spPr>
          <a:xfrm>
            <a:off x="944880" y="1534956"/>
            <a:ext cx="5775960" cy="378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This project converted raw sales data into a powerful visual dashboard that helps: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Identify top-performing regions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Understand product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Analyze profitability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Support strategic business decisions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This analysis can be used by ABC Electronics for </a:t>
            </a:r>
            <a:r>
              <a:rPr lang="en-US" b="1" dirty="0">
                <a:latin typeface="+mj-lt"/>
              </a:rPr>
              <a:t>growth and profitability improvement</a:t>
            </a:r>
            <a:r>
              <a:rPr 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2895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655320"/>
            <a:ext cx="4572000" cy="5486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50</TotalTime>
  <Words>826</Words>
  <Application>Microsoft Office PowerPoint</Application>
  <PresentationFormat>Widescreen</PresentationFormat>
  <Paragraphs>180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Bodoni MT</vt:lpstr>
      <vt:lpstr>Calibri</vt:lpstr>
      <vt:lpstr>Cambria</vt:lpstr>
      <vt:lpstr>Source Sans Pro Light</vt:lpstr>
      <vt:lpstr>Wingdings</vt:lpstr>
      <vt:lpstr>Custom</vt:lpstr>
      <vt:lpstr>Project Name: Analyzing and Visualizing Regional Sales Performance Domain: Retail Sales Analytics Tool Used: Microsoft Excel Prepared by: MonikaM Institute: Vinsup Skill Academy, Coimbatore </vt:lpstr>
      <vt:lpstr>Business Case</vt:lpstr>
      <vt:lpstr>Problem Statement</vt:lpstr>
      <vt:lpstr>Dataset overview</vt:lpstr>
      <vt:lpstr>Data Cleaning Process </vt:lpstr>
      <vt:lpstr>KPIs Used </vt:lpstr>
      <vt:lpstr>Visualization  1. Region Wise Sales Interpretation</vt:lpstr>
      <vt:lpstr>Category Wise Sales Contribution </vt:lpstr>
      <vt:lpstr>Monthly Sales and Profit Trend </vt:lpstr>
      <vt:lpstr>Sales by Region &amp; Category </vt:lpstr>
      <vt:lpstr>Monthly wise quantity Sold </vt:lpstr>
      <vt:lpstr>Discount vs Sales (Regression)</vt:lpstr>
      <vt:lpstr>PowerPoint Presentation</vt:lpstr>
      <vt:lpstr>Final Business Recommendations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Muruganantham</dc:creator>
  <cp:lastModifiedBy>Monika Muruganantham</cp:lastModifiedBy>
  <cp:revision>2</cp:revision>
  <dcterms:created xsi:type="dcterms:W3CDTF">2026-01-02T10:52:31Z</dcterms:created>
  <dcterms:modified xsi:type="dcterms:W3CDTF">2026-01-02T11:45:56Z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